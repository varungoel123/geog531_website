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76" r:id="rId2"/>
    <p:sldId id="277" r:id="rId3"/>
    <p:sldId id="278" r:id="rId4"/>
    <p:sldId id="279" r:id="rId5"/>
    <p:sldId id="280" r:id="rId6"/>
    <p:sldId id="281" r:id="rId7"/>
    <p:sldId id="282" r:id="rId8"/>
    <p:sldId id="28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3E29C2-C7AE-0544-B1A9-61BF35CC44E7}" type="datetimeFigureOut">
              <a:rPr lang="en-US" smtClean="0"/>
              <a:t>10/29/26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537B57-0924-6942-977B-7AAB55203492}" type="slidenum">
              <a:rPr lang="en-US" smtClean="0"/>
              <a:t>‹#›</a:t>
            </a:fld>
            <a:endParaRPr lang="en-US"/>
          </a:p>
        </p:txBody>
      </p:sp>
    </p:spTree>
    <p:extLst>
      <p:ext uri="{BB962C8B-B14F-4D97-AF65-F5344CB8AC3E}">
        <p14:creationId xmlns:p14="http://schemas.microsoft.com/office/powerpoint/2010/main" val="2711569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46–47 min. Assign one pair per room. Copy the five question prompts from the next five reference slides into Zoom chat before opening rooms, or provide the student deck. Do not present all five cards in detail. Set a 20-minute breakout ending at minute 68. One student operates DAGitty while the other challenges arrows; swap halfway.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card for Room 1. Send before opening rooms. This is a hypothetical observational study. Students may change candidate variables with an explanation. The suggested moderator is optional; another defensible choice is welcome. No dataset retrieval or model fitting is needed in the breakout. Work at one defined population level and state timing. Instructor discussion guide is in the appendix.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card for Room 2. Send before opening rooms. This is a hypothetical observational study. Students may change candidate variables with an explanation. The suggested moderator is optional; another defensible choice is welcome. No dataset retrieval or model fitting is needed in the breakout. Work at one defined population level and state timing. Instructor discussion guide is in the appendix.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card for Room 3. Send before opening rooms. This is a hypothetical observational study. Students may change candidate variables with an explanation. The suggested moderator is optional; another defensible choice is welcome. No dataset retrieval or model fitting is needed in the breakout. Work at one defined population level and state timing. Instructor discussion guide is in the appendix.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card for Room 4. Send before opening rooms. This is a hypothetical observational study. Students may change candidate variables with an explanation. The suggested moderator is optional; another defensible choice is welcome. No dataset retrieval or model fitting is needed in the breakout. Work at one defined population level and state timing. Instructor discussion guide is in the appendix.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card for Room 5. Send before opening rooms. This is a hypothetical observational study. Students may change candidate variables with an explanation. The suggested moderator is optional; another defensible choice is welcome. No dataset retrieval or model fitting is needed in the breakout. Work at one defined population level and state timing. Instructor discussion guide is in the appendix.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48–68 min. Leave this slide visible before opening rooms. Deliverable: image and code plus Y, X, preferred measured adjustment variables, one uncertain assumption, and possible moderator. Ask for screenshot via agreed class channel or Zoom share on return; do not require public publishing. Broadcast at minute 58: swap operator and reviewer. At 63: check adjustment output. At 66: save and choose speaker. Visit rooms, asking why an arrow belongs and what data would measure each concept. If DAGitty fails, sketch the DAG and list intended adjustment variables. Five room-specific suggestions are in appendix notes.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68–73 min. Exactly one minute per pair. Feedback: identify one defensible feature and ask one focused question. Do not compare diagrams to a single correct answer. If discussion runs long, collect the last diagrams and provide feedback after class. The graphs are starting points requiring topic evidence before final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4F03D-6AA5-B01E-0FF3-88C05655BE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87F7AE-805B-F383-B570-6B8E82BA90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A4CDBC-DC6F-244D-9C07-ECD151C7864C}"/>
              </a:ext>
            </a:extLst>
          </p:cNvPr>
          <p:cNvSpPr>
            <a:spLocks noGrp="1"/>
          </p:cNvSpPr>
          <p:nvPr>
            <p:ph type="dt" sz="half" idx="10"/>
          </p:nvPr>
        </p:nvSpPr>
        <p:spPr/>
        <p:txBody>
          <a:bodyPr/>
          <a:lstStyle/>
          <a:p>
            <a:fld id="{CC9E1518-7207-7443-91FA-BC6E0818C1B3}" type="datetimeFigureOut">
              <a:rPr lang="en-US" smtClean="0"/>
              <a:t>10/29/26</a:t>
            </a:fld>
            <a:endParaRPr lang="en-US"/>
          </a:p>
        </p:txBody>
      </p:sp>
      <p:sp>
        <p:nvSpPr>
          <p:cNvPr id="5" name="Footer Placeholder 4">
            <a:extLst>
              <a:ext uri="{FF2B5EF4-FFF2-40B4-BE49-F238E27FC236}">
                <a16:creationId xmlns:a16="http://schemas.microsoft.com/office/drawing/2014/main" id="{B2CF4ED8-FB80-B673-361D-B80915B779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DD026-0B63-AF2B-F781-E9A766D28CD7}"/>
              </a:ext>
            </a:extLst>
          </p:cNvPr>
          <p:cNvSpPr>
            <a:spLocks noGrp="1"/>
          </p:cNvSpPr>
          <p:nvPr>
            <p:ph type="sldNum" sz="quarter" idx="12"/>
          </p:nvPr>
        </p:nvSpPr>
        <p:spPr/>
        <p:txBody>
          <a:bodyPr/>
          <a:lstStyle/>
          <a:p>
            <a:fld id="{FAE65206-267B-AD44-A6D1-F8E34E77AAC0}" type="slidenum">
              <a:rPr lang="en-US" smtClean="0"/>
              <a:t>‹#›</a:t>
            </a:fld>
            <a:endParaRPr lang="en-US"/>
          </a:p>
        </p:txBody>
      </p:sp>
    </p:spTree>
    <p:extLst>
      <p:ext uri="{BB962C8B-B14F-4D97-AF65-F5344CB8AC3E}">
        <p14:creationId xmlns:p14="http://schemas.microsoft.com/office/powerpoint/2010/main" val="1813160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2D0C-5AE1-F2A3-0391-7534DAC35F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E37E55-AA42-34EB-1421-611A0E5A01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004E3F-8A8F-8D71-5248-12A6E7F309EE}"/>
              </a:ext>
            </a:extLst>
          </p:cNvPr>
          <p:cNvSpPr>
            <a:spLocks noGrp="1"/>
          </p:cNvSpPr>
          <p:nvPr>
            <p:ph type="dt" sz="half" idx="10"/>
          </p:nvPr>
        </p:nvSpPr>
        <p:spPr/>
        <p:txBody>
          <a:bodyPr/>
          <a:lstStyle/>
          <a:p>
            <a:fld id="{CC9E1518-7207-7443-91FA-BC6E0818C1B3}" type="datetimeFigureOut">
              <a:rPr lang="en-US" smtClean="0"/>
              <a:t>10/29/26</a:t>
            </a:fld>
            <a:endParaRPr lang="en-US"/>
          </a:p>
        </p:txBody>
      </p:sp>
      <p:sp>
        <p:nvSpPr>
          <p:cNvPr id="5" name="Footer Placeholder 4">
            <a:extLst>
              <a:ext uri="{FF2B5EF4-FFF2-40B4-BE49-F238E27FC236}">
                <a16:creationId xmlns:a16="http://schemas.microsoft.com/office/drawing/2014/main" id="{9ED664D4-E8E9-7931-9BBD-2DF48704D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98C01D-36BE-AC63-7063-0700386EE41F}"/>
              </a:ext>
            </a:extLst>
          </p:cNvPr>
          <p:cNvSpPr>
            <a:spLocks noGrp="1"/>
          </p:cNvSpPr>
          <p:nvPr>
            <p:ph type="sldNum" sz="quarter" idx="12"/>
          </p:nvPr>
        </p:nvSpPr>
        <p:spPr/>
        <p:txBody>
          <a:bodyPr/>
          <a:lstStyle/>
          <a:p>
            <a:fld id="{FAE65206-267B-AD44-A6D1-F8E34E77AAC0}" type="slidenum">
              <a:rPr lang="en-US" smtClean="0"/>
              <a:t>‹#›</a:t>
            </a:fld>
            <a:endParaRPr lang="en-US"/>
          </a:p>
        </p:txBody>
      </p:sp>
    </p:spTree>
    <p:extLst>
      <p:ext uri="{BB962C8B-B14F-4D97-AF65-F5344CB8AC3E}">
        <p14:creationId xmlns:p14="http://schemas.microsoft.com/office/powerpoint/2010/main" val="3485207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5FF93-A7E2-6BFE-6447-9371F995B6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BBC5C5-2DA4-D67D-1BF1-F69D134D9E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09A3CD-4774-D859-47DC-B97D27527306}"/>
              </a:ext>
            </a:extLst>
          </p:cNvPr>
          <p:cNvSpPr>
            <a:spLocks noGrp="1"/>
          </p:cNvSpPr>
          <p:nvPr>
            <p:ph type="dt" sz="half" idx="10"/>
          </p:nvPr>
        </p:nvSpPr>
        <p:spPr/>
        <p:txBody>
          <a:bodyPr/>
          <a:lstStyle/>
          <a:p>
            <a:fld id="{CC9E1518-7207-7443-91FA-BC6E0818C1B3}" type="datetimeFigureOut">
              <a:rPr lang="en-US" smtClean="0"/>
              <a:t>10/29/26</a:t>
            </a:fld>
            <a:endParaRPr lang="en-US"/>
          </a:p>
        </p:txBody>
      </p:sp>
      <p:sp>
        <p:nvSpPr>
          <p:cNvPr id="5" name="Footer Placeholder 4">
            <a:extLst>
              <a:ext uri="{FF2B5EF4-FFF2-40B4-BE49-F238E27FC236}">
                <a16:creationId xmlns:a16="http://schemas.microsoft.com/office/drawing/2014/main" id="{8D4554E4-AF20-1996-F63B-25FBDF906A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2A4341-7914-600B-8761-59EF26C2F72C}"/>
              </a:ext>
            </a:extLst>
          </p:cNvPr>
          <p:cNvSpPr>
            <a:spLocks noGrp="1"/>
          </p:cNvSpPr>
          <p:nvPr>
            <p:ph type="sldNum" sz="quarter" idx="12"/>
          </p:nvPr>
        </p:nvSpPr>
        <p:spPr/>
        <p:txBody>
          <a:bodyPr/>
          <a:lstStyle/>
          <a:p>
            <a:fld id="{FAE65206-267B-AD44-A6D1-F8E34E77AAC0}" type="slidenum">
              <a:rPr lang="en-US" smtClean="0"/>
              <a:t>‹#›</a:t>
            </a:fld>
            <a:endParaRPr lang="en-US"/>
          </a:p>
        </p:txBody>
      </p:sp>
    </p:spTree>
    <p:extLst>
      <p:ext uri="{BB962C8B-B14F-4D97-AF65-F5344CB8AC3E}">
        <p14:creationId xmlns:p14="http://schemas.microsoft.com/office/powerpoint/2010/main" val="4233299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9390D-3231-5234-DC12-5FC9CFF0D2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2A731-2D24-3624-043A-943836B0C2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F3C861-27BA-D49C-4B88-EB71364824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37C3C8-A502-C9C0-1598-441B2B5434ED}"/>
              </a:ext>
            </a:extLst>
          </p:cNvPr>
          <p:cNvSpPr>
            <a:spLocks noGrp="1"/>
          </p:cNvSpPr>
          <p:nvPr>
            <p:ph type="dt" sz="half" idx="10"/>
          </p:nvPr>
        </p:nvSpPr>
        <p:spPr/>
        <p:txBody>
          <a:bodyPr/>
          <a:lstStyle/>
          <a:p>
            <a:fld id="{CC9E1518-7207-7443-91FA-BC6E0818C1B3}" type="datetimeFigureOut">
              <a:rPr lang="en-US" smtClean="0"/>
              <a:t>10/29/26</a:t>
            </a:fld>
            <a:endParaRPr lang="en-US"/>
          </a:p>
        </p:txBody>
      </p:sp>
      <p:sp>
        <p:nvSpPr>
          <p:cNvPr id="6" name="Footer Placeholder 5">
            <a:extLst>
              <a:ext uri="{FF2B5EF4-FFF2-40B4-BE49-F238E27FC236}">
                <a16:creationId xmlns:a16="http://schemas.microsoft.com/office/drawing/2014/main" id="{7B5DED54-23C7-DC62-FC06-FABCCC279B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08C3D3-A7E5-B672-041F-1650FF5BAF73}"/>
              </a:ext>
            </a:extLst>
          </p:cNvPr>
          <p:cNvSpPr>
            <a:spLocks noGrp="1"/>
          </p:cNvSpPr>
          <p:nvPr>
            <p:ph type="sldNum" sz="quarter" idx="12"/>
          </p:nvPr>
        </p:nvSpPr>
        <p:spPr/>
        <p:txBody>
          <a:bodyPr/>
          <a:lstStyle/>
          <a:p>
            <a:fld id="{FAE65206-267B-AD44-A6D1-F8E34E77AAC0}" type="slidenum">
              <a:rPr lang="en-US" smtClean="0"/>
              <a:t>‹#›</a:t>
            </a:fld>
            <a:endParaRPr lang="en-US"/>
          </a:p>
        </p:txBody>
      </p:sp>
    </p:spTree>
    <p:extLst>
      <p:ext uri="{BB962C8B-B14F-4D97-AF65-F5344CB8AC3E}">
        <p14:creationId xmlns:p14="http://schemas.microsoft.com/office/powerpoint/2010/main" val="2649587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0D7C1-5FA8-E210-060B-1A7D3BB3F6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C328F6-A4B9-EEC6-24BE-9AC654DAE4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4BEA6C-A486-8F85-CCA1-102BFDA3E5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FBFDC3-EE14-898B-9C45-709CDC4835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07709C-D673-BF37-3BAE-0F6FB0D555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047DFA-6DE9-90F2-D9B1-997E836369A7}"/>
              </a:ext>
            </a:extLst>
          </p:cNvPr>
          <p:cNvSpPr>
            <a:spLocks noGrp="1"/>
          </p:cNvSpPr>
          <p:nvPr>
            <p:ph type="dt" sz="half" idx="10"/>
          </p:nvPr>
        </p:nvSpPr>
        <p:spPr/>
        <p:txBody>
          <a:bodyPr/>
          <a:lstStyle/>
          <a:p>
            <a:fld id="{CC9E1518-7207-7443-91FA-BC6E0818C1B3}" type="datetimeFigureOut">
              <a:rPr lang="en-US" smtClean="0"/>
              <a:t>10/29/26</a:t>
            </a:fld>
            <a:endParaRPr lang="en-US"/>
          </a:p>
        </p:txBody>
      </p:sp>
      <p:sp>
        <p:nvSpPr>
          <p:cNvPr id="8" name="Footer Placeholder 7">
            <a:extLst>
              <a:ext uri="{FF2B5EF4-FFF2-40B4-BE49-F238E27FC236}">
                <a16:creationId xmlns:a16="http://schemas.microsoft.com/office/drawing/2014/main" id="{E322DA60-BA38-05E6-0B13-4D4D507F2E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066865-582B-8E49-2DB6-6A3530CC926F}"/>
              </a:ext>
            </a:extLst>
          </p:cNvPr>
          <p:cNvSpPr>
            <a:spLocks noGrp="1"/>
          </p:cNvSpPr>
          <p:nvPr>
            <p:ph type="sldNum" sz="quarter" idx="12"/>
          </p:nvPr>
        </p:nvSpPr>
        <p:spPr/>
        <p:txBody>
          <a:bodyPr/>
          <a:lstStyle/>
          <a:p>
            <a:fld id="{FAE65206-267B-AD44-A6D1-F8E34E77AAC0}" type="slidenum">
              <a:rPr lang="en-US" smtClean="0"/>
              <a:t>‹#›</a:t>
            </a:fld>
            <a:endParaRPr lang="en-US"/>
          </a:p>
        </p:txBody>
      </p:sp>
    </p:spTree>
    <p:extLst>
      <p:ext uri="{BB962C8B-B14F-4D97-AF65-F5344CB8AC3E}">
        <p14:creationId xmlns:p14="http://schemas.microsoft.com/office/powerpoint/2010/main" val="1454786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6B241-7588-2531-9B31-4DDA6BA89D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3E330E-B1E7-2AEA-B7C1-A9B43C2D17EF}"/>
              </a:ext>
            </a:extLst>
          </p:cNvPr>
          <p:cNvSpPr>
            <a:spLocks noGrp="1"/>
          </p:cNvSpPr>
          <p:nvPr>
            <p:ph type="dt" sz="half" idx="10"/>
          </p:nvPr>
        </p:nvSpPr>
        <p:spPr/>
        <p:txBody>
          <a:bodyPr/>
          <a:lstStyle/>
          <a:p>
            <a:fld id="{CC9E1518-7207-7443-91FA-BC6E0818C1B3}" type="datetimeFigureOut">
              <a:rPr lang="en-US" smtClean="0"/>
              <a:t>10/29/26</a:t>
            </a:fld>
            <a:endParaRPr lang="en-US"/>
          </a:p>
        </p:txBody>
      </p:sp>
      <p:sp>
        <p:nvSpPr>
          <p:cNvPr id="4" name="Footer Placeholder 3">
            <a:extLst>
              <a:ext uri="{FF2B5EF4-FFF2-40B4-BE49-F238E27FC236}">
                <a16:creationId xmlns:a16="http://schemas.microsoft.com/office/drawing/2014/main" id="{62B4CE1D-69A6-1F95-30D5-660322A19A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DF0CB1-29DC-BD25-25A9-D7CCB6DD2B7D}"/>
              </a:ext>
            </a:extLst>
          </p:cNvPr>
          <p:cNvSpPr>
            <a:spLocks noGrp="1"/>
          </p:cNvSpPr>
          <p:nvPr>
            <p:ph type="sldNum" sz="quarter" idx="12"/>
          </p:nvPr>
        </p:nvSpPr>
        <p:spPr/>
        <p:txBody>
          <a:bodyPr/>
          <a:lstStyle/>
          <a:p>
            <a:fld id="{FAE65206-267B-AD44-A6D1-F8E34E77AAC0}" type="slidenum">
              <a:rPr lang="en-US" smtClean="0"/>
              <a:t>‹#›</a:t>
            </a:fld>
            <a:endParaRPr lang="en-US"/>
          </a:p>
        </p:txBody>
      </p:sp>
    </p:spTree>
    <p:extLst>
      <p:ext uri="{BB962C8B-B14F-4D97-AF65-F5344CB8AC3E}">
        <p14:creationId xmlns:p14="http://schemas.microsoft.com/office/powerpoint/2010/main" val="42834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CB596A-0E8E-7CB9-E240-DA9F1D6131BC}"/>
              </a:ext>
            </a:extLst>
          </p:cNvPr>
          <p:cNvSpPr>
            <a:spLocks noGrp="1"/>
          </p:cNvSpPr>
          <p:nvPr>
            <p:ph type="dt" sz="half" idx="10"/>
          </p:nvPr>
        </p:nvSpPr>
        <p:spPr/>
        <p:txBody>
          <a:bodyPr/>
          <a:lstStyle/>
          <a:p>
            <a:fld id="{CC9E1518-7207-7443-91FA-BC6E0818C1B3}" type="datetimeFigureOut">
              <a:rPr lang="en-US" smtClean="0"/>
              <a:t>10/29/26</a:t>
            </a:fld>
            <a:endParaRPr lang="en-US"/>
          </a:p>
        </p:txBody>
      </p:sp>
      <p:sp>
        <p:nvSpPr>
          <p:cNvPr id="3" name="Footer Placeholder 2">
            <a:extLst>
              <a:ext uri="{FF2B5EF4-FFF2-40B4-BE49-F238E27FC236}">
                <a16:creationId xmlns:a16="http://schemas.microsoft.com/office/drawing/2014/main" id="{B389F8B4-D74B-3F89-D687-F4B23776E6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26ED87-F01E-EB66-FEDD-6FF7359FAA01}"/>
              </a:ext>
            </a:extLst>
          </p:cNvPr>
          <p:cNvSpPr>
            <a:spLocks noGrp="1"/>
          </p:cNvSpPr>
          <p:nvPr>
            <p:ph type="sldNum" sz="quarter" idx="12"/>
          </p:nvPr>
        </p:nvSpPr>
        <p:spPr/>
        <p:txBody>
          <a:bodyPr/>
          <a:lstStyle/>
          <a:p>
            <a:fld id="{FAE65206-267B-AD44-A6D1-F8E34E77AAC0}" type="slidenum">
              <a:rPr lang="en-US" smtClean="0"/>
              <a:t>‹#›</a:t>
            </a:fld>
            <a:endParaRPr lang="en-US"/>
          </a:p>
        </p:txBody>
      </p:sp>
    </p:spTree>
    <p:extLst>
      <p:ext uri="{BB962C8B-B14F-4D97-AF65-F5344CB8AC3E}">
        <p14:creationId xmlns:p14="http://schemas.microsoft.com/office/powerpoint/2010/main" val="4283910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B008-406D-1152-01ED-9E887DD595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1F4211-BB3F-22A5-E6E5-74D6430792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36C6A6-59B9-EAFD-5C3F-BEAFBC8073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E615AC-AFFA-4C93-9F74-E88286D31DDF}"/>
              </a:ext>
            </a:extLst>
          </p:cNvPr>
          <p:cNvSpPr>
            <a:spLocks noGrp="1"/>
          </p:cNvSpPr>
          <p:nvPr>
            <p:ph type="dt" sz="half" idx="10"/>
          </p:nvPr>
        </p:nvSpPr>
        <p:spPr/>
        <p:txBody>
          <a:bodyPr/>
          <a:lstStyle/>
          <a:p>
            <a:fld id="{CC9E1518-7207-7443-91FA-BC6E0818C1B3}" type="datetimeFigureOut">
              <a:rPr lang="en-US" smtClean="0"/>
              <a:t>10/29/26</a:t>
            </a:fld>
            <a:endParaRPr lang="en-US"/>
          </a:p>
        </p:txBody>
      </p:sp>
      <p:sp>
        <p:nvSpPr>
          <p:cNvPr id="6" name="Footer Placeholder 5">
            <a:extLst>
              <a:ext uri="{FF2B5EF4-FFF2-40B4-BE49-F238E27FC236}">
                <a16:creationId xmlns:a16="http://schemas.microsoft.com/office/drawing/2014/main" id="{1179824F-0BED-2CED-6D2F-7AD637FDB8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682E1D-86E3-C193-5C12-AF66895C0A5B}"/>
              </a:ext>
            </a:extLst>
          </p:cNvPr>
          <p:cNvSpPr>
            <a:spLocks noGrp="1"/>
          </p:cNvSpPr>
          <p:nvPr>
            <p:ph type="sldNum" sz="quarter" idx="12"/>
          </p:nvPr>
        </p:nvSpPr>
        <p:spPr/>
        <p:txBody>
          <a:bodyPr/>
          <a:lstStyle/>
          <a:p>
            <a:fld id="{FAE65206-267B-AD44-A6D1-F8E34E77AAC0}" type="slidenum">
              <a:rPr lang="en-US" smtClean="0"/>
              <a:t>‹#›</a:t>
            </a:fld>
            <a:endParaRPr lang="en-US"/>
          </a:p>
        </p:txBody>
      </p:sp>
    </p:spTree>
    <p:extLst>
      <p:ext uri="{BB962C8B-B14F-4D97-AF65-F5344CB8AC3E}">
        <p14:creationId xmlns:p14="http://schemas.microsoft.com/office/powerpoint/2010/main" val="1442195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BBF19-C184-69F7-3176-D07BE2A79B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BBABF8-BD1D-A768-CE18-3C253DE785B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56D535-AA2A-33CC-1531-21B6D6D02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2C955C-FB85-608A-F444-45A976BF2182}"/>
              </a:ext>
            </a:extLst>
          </p:cNvPr>
          <p:cNvSpPr>
            <a:spLocks noGrp="1"/>
          </p:cNvSpPr>
          <p:nvPr>
            <p:ph type="dt" sz="half" idx="10"/>
          </p:nvPr>
        </p:nvSpPr>
        <p:spPr/>
        <p:txBody>
          <a:bodyPr/>
          <a:lstStyle/>
          <a:p>
            <a:fld id="{CC9E1518-7207-7443-91FA-BC6E0818C1B3}" type="datetimeFigureOut">
              <a:rPr lang="en-US" smtClean="0"/>
              <a:t>10/29/26</a:t>
            </a:fld>
            <a:endParaRPr lang="en-US"/>
          </a:p>
        </p:txBody>
      </p:sp>
      <p:sp>
        <p:nvSpPr>
          <p:cNvPr id="6" name="Footer Placeholder 5">
            <a:extLst>
              <a:ext uri="{FF2B5EF4-FFF2-40B4-BE49-F238E27FC236}">
                <a16:creationId xmlns:a16="http://schemas.microsoft.com/office/drawing/2014/main" id="{C7113C37-A988-7B46-CEC6-F2259F54D7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5CA7A4-5B52-91AD-D624-432FF0E8E2BB}"/>
              </a:ext>
            </a:extLst>
          </p:cNvPr>
          <p:cNvSpPr>
            <a:spLocks noGrp="1"/>
          </p:cNvSpPr>
          <p:nvPr>
            <p:ph type="sldNum" sz="quarter" idx="12"/>
          </p:nvPr>
        </p:nvSpPr>
        <p:spPr/>
        <p:txBody>
          <a:bodyPr/>
          <a:lstStyle/>
          <a:p>
            <a:fld id="{FAE65206-267B-AD44-A6D1-F8E34E77AAC0}" type="slidenum">
              <a:rPr lang="en-US" smtClean="0"/>
              <a:t>‹#›</a:t>
            </a:fld>
            <a:endParaRPr lang="en-US"/>
          </a:p>
        </p:txBody>
      </p:sp>
    </p:spTree>
    <p:extLst>
      <p:ext uri="{BB962C8B-B14F-4D97-AF65-F5344CB8AC3E}">
        <p14:creationId xmlns:p14="http://schemas.microsoft.com/office/powerpoint/2010/main" val="2344621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FFB47-A39F-5175-7828-0D0B8D553E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DC9704-EE16-916D-6BCC-E5EBCD3B12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B48A7C-64B2-F791-67DB-60987C729272}"/>
              </a:ext>
            </a:extLst>
          </p:cNvPr>
          <p:cNvSpPr>
            <a:spLocks noGrp="1"/>
          </p:cNvSpPr>
          <p:nvPr>
            <p:ph type="dt" sz="half" idx="10"/>
          </p:nvPr>
        </p:nvSpPr>
        <p:spPr/>
        <p:txBody>
          <a:bodyPr/>
          <a:lstStyle/>
          <a:p>
            <a:fld id="{CC9E1518-7207-7443-91FA-BC6E0818C1B3}" type="datetimeFigureOut">
              <a:rPr lang="en-US" smtClean="0"/>
              <a:t>10/29/26</a:t>
            </a:fld>
            <a:endParaRPr lang="en-US"/>
          </a:p>
        </p:txBody>
      </p:sp>
      <p:sp>
        <p:nvSpPr>
          <p:cNvPr id="5" name="Footer Placeholder 4">
            <a:extLst>
              <a:ext uri="{FF2B5EF4-FFF2-40B4-BE49-F238E27FC236}">
                <a16:creationId xmlns:a16="http://schemas.microsoft.com/office/drawing/2014/main" id="{2DB84F49-5EAE-BFF7-94D0-663A7B9CEE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A210DF-44A5-5F02-FBE3-85D96931D4C4}"/>
              </a:ext>
            </a:extLst>
          </p:cNvPr>
          <p:cNvSpPr>
            <a:spLocks noGrp="1"/>
          </p:cNvSpPr>
          <p:nvPr>
            <p:ph type="sldNum" sz="quarter" idx="12"/>
          </p:nvPr>
        </p:nvSpPr>
        <p:spPr/>
        <p:txBody>
          <a:bodyPr/>
          <a:lstStyle/>
          <a:p>
            <a:fld id="{FAE65206-267B-AD44-A6D1-F8E34E77AAC0}" type="slidenum">
              <a:rPr lang="en-US" smtClean="0"/>
              <a:t>‹#›</a:t>
            </a:fld>
            <a:endParaRPr lang="en-US"/>
          </a:p>
        </p:txBody>
      </p:sp>
    </p:spTree>
    <p:extLst>
      <p:ext uri="{BB962C8B-B14F-4D97-AF65-F5344CB8AC3E}">
        <p14:creationId xmlns:p14="http://schemas.microsoft.com/office/powerpoint/2010/main" val="359410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DACD64-3FBA-F37C-BEBA-3C04EBBB5C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CB6EDB-445A-6755-5C16-C3BFB381CA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54A0C0-328F-6DB0-897D-8F57F310BAF4}"/>
              </a:ext>
            </a:extLst>
          </p:cNvPr>
          <p:cNvSpPr>
            <a:spLocks noGrp="1"/>
          </p:cNvSpPr>
          <p:nvPr>
            <p:ph type="dt" sz="half" idx="10"/>
          </p:nvPr>
        </p:nvSpPr>
        <p:spPr/>
        <p:txBody>
          <a:bodyPr/>
          <a:lstStyle/>
          <a:p>
            <a:fld id="{CC9E1518-7207-7443-91FA-BC6E0818C1B3}" type="datetimeFigureOut">
              <a:rPr lang="en-US" smtClean="0"/>
              <a:t>10/29/26</a:t>
            </a:fld>
            <a:endParaRPr lang="en-US"/>
          </a:p>
        </p:txBody>
      </p:sp>
      <p:sp>
        <p:nvSpPr>
          <p:cNvPr id="5" name="Footer Placeholder 4">
            <a:extLst>
              <a:ext uri="{FF2B5EF4-FFF2-40B4-BE49-F238E27FC236}">
                <a16:creationId xmlns:a16="http://schemas.microsoft.com/office/drawing/2014/main" id="{F8C7F9EC-6887-A27B-97A4-10A3A86A93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B2BCBD-6B79-6B20-AC01-E5E27196AB70}"/>
              </a:ext>
            </a:extLst>
          </p:cNvPr>
          <p:cNvSpPr>
            <a:spLocks noGrp="1"/>
          </p:cNvSpPr>
          <p:nvPr>
            <p:ph type="sldNum" sz="quarter" idx="12"/>
          </p:nvPr>
        </p:nvSpPr>
        <p:spPr/>
        <p:txBody>
          <a:bodyPr/>
          <a:lstStyle/>
          <a:p>
            <a:fld id="{FAE65206-267B-AD44-A6D1-F8E34E77AAC0}" type="slidenum">
              <a:rPr lang="en-US" smtClean="0"/>
              <a:t>‹#›</a:t>
            </a:fld>
            <a:endParaRPr lang="en-US"/>
          </a:p>
        </p:txBody>
      </p:sp>
    </p:spTree>
    <p:extLst>
      <p:ext uri="{BB962C8B-B14F-4D97-AF65-F5344CB8AC3E}">
        <p14:creationId xmlns:p14="http://schemas.microsoft.com/office/powerpoint/2010/main" val="2112402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9C0F0C-6E38-48A8-C2C0-E72DD37BE8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A59AC3-E449-FF2A-4A88-11B157E4B0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4E454-4F3A-FC49-0F8B-CADECE6484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9E1518-7207-7443-91FA-BC6E0818C1B3}" type="datetimeFigureOut">
              <a:rPr lang="en-US" smtClean="0"/>
              <a:t>10/29/26</a:t>
            </a:fld>
            <a:endParaRPr lang="en-US"/>
          </a:p>
        </p:txBody>
      </p:sp>
      <p:sp>
        <p:nvSpPr>
          <p:cNvPr id="5" name="Footer Placeholder 4">
            <a:extLst>
              <a:ext uri="{FF2B5EF4-FFF2-40B4-BE49-F238E27FC236}">
                <a16:creationId xmlns:a16="http://schemas.microsoft.com/office/drawing/2014/main" id="{BEEC691B-6DBC-C021-A4DB-7B031F7758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B8BD123-A4E0-CF4D-2E7A-BA4268E3DE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E65206-267B-AD44-A6D1-F8E34E77AAC0}" type="slidenum">
              <a:rPr lang="en-US" smtClean="0"/>
              <a:t>‹#›</a:t>
            </a:fld>
            <a:endParaRPr lang="en-US"/>
          </a:p>
        </p:txBody>
      </p:sp>
    </p:spTree>
    <p:extLst>
      <p:ext uri="{BB962C8B-B14F-4D97-AF65-F5344CB8AC3E}">
        <p14:creationId xmlns:p14="http://schemas.microsoft.com/office/powerpoint/2010/main" val="378851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BC8217D-454C-47EA-B00F-D2A81F8048FA}"/>
              </a:ext>
            </a:extLst>
          </p:cNvPr>
          <p:cNvSpPr>
            <a:spLocks noGrp="1"/>
          </p:cNvSpPr>
          <p:nvPr/>
        </p:nvSpPr>
        <p:spPr>
          <a:xfrm>
            <a:off x="571500" y="419100"/>
            <a:ext cx="11001375" cy="952500"/>
          </a:xfrm>
          <a:prstGeom prst="rect">
            <a:avLst/>
          </a:prstGeom>
          <a:noFill/>
          <a:ln w="0">
            <a:noFill/>
            <a:prstDash val="solid"/>
          </a:ln>
        </p:spPr>
        <p:txBody>
          <a:bodyPr/>
          <a:lstStyle>
            <a:defPPr>
              <a:defRPr sz="2925" b="1">
                <a:solidFill>
                  <a:srgbClr val="152C3A"/>
                </a:solidFill>
              </a:defRPr>
            </a:defPPr>
            <a:lvl1pPr>
              <a:defRPr sz="2925" b="1">
                <a:solidFill>
                  <a:srgbClr val="152C3A"/>
                </a:solidFill>
              </a:defRPr>
            </a:lvl1pPr>
            <a:lvl2pPr>
              <a:defRPr sz="2925" b="1">
                <a:solidFill>
                  <a:srgbClr val="152C3A"/>
                </a:solidFill>
              </a:defRPr>
            </a:lvl2pPr>
            <a:lvl3pPr>
              <a:defRPr sz="2925" b="1">
                <a:solidFill>
                  <a:srgbClr val="152C3A"/>
                </a:solidFill>
              </a:defRPr>
            </a:lvl3pPr>
            <a:lvl4pPr>
              <a:defRPr sz="2925" b="1">
                <a:solidFill>
                  <a:srgbClr val="152C3A"/>
                </a:solidFill>
              </a:defRPr>
            </a:lvl4pPr>
            <a:lvl5pPr>
              <a:defRPr sz="2925" b="1">
                <a:solidFill>
                  <a:srgbClr val="152C3A"/>
                </a:solidFill>
              </a:defRPr>
            </a:lvl5pPr>
            <a:lvl6pPr>
              <a:defRPr sz="2925" b="1">
                <a:solidFill>
                  <a:srgbClr val="152C3A"/>
                </a:solidFill>
              </a:defRPr>
            </a:lvl6pPr>
            <a:lvl7pPr>
              <a:defRPr sz="2925" b="1">
                <a:solidFill>
                  <a:srgbClr val="152C3A"/>
                </a:solidFill>
              </a:defRPr>
            </a:lvl7pPr>
            <a:lvl8pPr>
              <a:defRPr sz="2925" b="1">
                <a:solidFill>
                  <a:srgbClr val="152C3A"/>
                </a:solidFill>
              </a:defRPr>
            </a:lvl8pPr>
            <a:lvl9pPr>
              <a:defRPr sz="2925" b="1">
                <a:solidFill>
                  <a:srgbClr val="152C3A"/>
                </a:solidFill>
              </a:defRPr>
            </a:lvl9pPr>
          </a:lstStyle>
          <a:p>
            <a:pPr>
              <a:defRPr sz="2925" b="1">
                <a:solidFill>
                  <a:srgbClr val="152C3A"/>
                </a:solidFill>
              </a:defRPr>
            </a:pPr>
            <a:r>
              <a:rPr sz="2925" b="1">
                <a:solidFill>
                  <a:srgbClr val="152C3A"/>
                </a:solidFill>
              </a:rPr>
              <a:t>Five rooms · Two students in each</a:t>
            </a:r>
          </a:p>
        </p:txBody>
      </p:sp>
      <p:sp>
        <p:nvSpPr>
          <p:cNvPr id="3" name="timing">
            <a:extLst>
              <a:ext uri="{FF2B5EF4-FFF2-40B4-BE49-F238E27FC236}">
                <a16:creationId xmlns:a16="http://schemas.microsoft.com/office/drawing/2014/main" id="{46B0F7C2-D801-4A02-9A3D-F9E952EB7524}"/>
              </a:ext>
            </a:extLst>
          </p:cNvPr>
          <p:cNvSpPr>
            <a:spLocks noGrp="1"/>
          </p:cNvSpPr>
          <p:nvPr/>
        </p:nvSpPr>
        <p:spPr>
          <a:xfrm>
            <a:off x="571500" y="6334125"/>
            <a:ext cx="9715500" cy="285750"/>
          </a:xfrm>
          <a:prstGeom prst="rect">
            <a:avLst/>
          </a:prstGeom>
          <a:noFill/>
          <a:ln w="0">
            <a:noFill/>
            <a:prstDash val="solid"/>
          </a:ln>
        </p:spPr>
        <p:txBody>
          <a:bodyPr/>
          <a:lstStyle>
            <a:defPPr>
              <a:defRPr sz="1275" b="0">
                <a:solidFill>
                  <a:srgbClr val="506975"/>
                </a:solidFill>
              </a:defRPr>
            </a:defPPr>
            <a:lvl1pPr>
              <a:defRPr sz="1275" b="0">
                <a:solidFill>
                  <a:srgbClr val="506975"/>
                </a:solidFill>
              </a:defRPr>
            </a:lvl1pPr>
            <a:lvl2pPr>
              <a:defRPr sz="1275" b="0">
                <a:solidFill>
                  <a:srgbClr val="506975"/>
                </a:solidFill>
              </a:defRPr>
            </a:lvl2pPr>
            <a:lvl3pPr>
              <a:defRPr sz="1275" b="0">
                <a:solidFill>
                  <a:srgbClr val="506975"/>
                </a:solidFill>
              </a:defRPr>
            </a:lvl3pPr>
            <a:lvl4pPr>
              <a:defRPr sz="1275" b="0">
                <a:solidFill>
                  <a:srgbClr val="506975"/>
                </a:solidFill>
              </a:defRPr>
            </a:lvl4pPr>
            <a:lvl5pPr>
              <a:defRPr sz="1275" b="0">
                <a:solidFill>
                  <a:srgbClr val="506975"/>
                </a:solidFill>
              </a:defRPr>
            </a:lvl5pPr>
            <a:lvl6pPr>
              <a:defRPr sz="1275" b="0">
                <a:solidFill>
                  <a:srgbClr val="506975"/>
                </a:solidFill>
              </a:defRPr>
            </a:lvl6pPr>
            <a:lvl7pPr>
              <a:defRPr sz="1275" b="0">
                <a:solidFill>
                  <a:srgbClr val="506975"/>
                </a:solidFill>
              </a:defRPr>
            </a:lvl7pPr>
            <a:lvl8pPr>
              <a:defRPr sz="1275" b="0">
                <a:solidFill>
                  <a:srgbClr val="506975"/>
                </a:solidFill>
              </a:defRPr>
            </a:lvl8pPr>
            <a:lvl9pPr>
              <a:defRPr sz="1275" b="0">
                <a:solidFill>
                  <a:srgbClr val="506975"/>
                </a:solidFill>
              </a:defRPr>
            </a:lvl9pPr>
          </a:lstStyle>
          <a:p>
            <a:pPr>
              <a:defRPr sz="1275" b="0">
                <a:solidFill>
                  <a:srgbClr val="506975"/>
                </a:solidFill>
              </a:defRPr>
            </a:pPr>
            <a:r>
              <a:rPr sz="1275" b="0">
                <a:solidFill>
                  <a:srgbClr val="506975"/>
                </a:solidFill>
              </a:rPr>
              <a:t>46–47 min</a:t>
            </a:r>
          </a:p>
        </p:txBody>
      </p:sp>
      <p:sp>
        <p:nvSpPr>
          <p:cNvPr id="4" name="number">
            <a:extLst>
              <a:ext uri="{FF2B5EF4-FFF2-40B4-BE49-F238E27FC236}">
                <a16:creationId xmlns:a16="http://schemas.microsoft.com/office/drawing/2014/main" id="{6DE34058-DFE5-4E2B-8A1D-B1786A27B266}"/>
              </a:ext>
            </a:extLst>
          </p:cNvPr>
          <p:cNvSpPr>
            <a:spLocks noGrp="1"/>
          </p:cNvSpPr>
          <p:nvPr/>
        </p:nvSpPr>
        <p:spPr>
          <a:xfrm>
            <a:off x="11049000" y="6334125"/>
            <a:ext cx="619125" cy="285750"/>
          </a:xfrm>
          <a:prstGeom prst="rect">
            <a:avLst/>
          </a:prstGeom>
          <a:noFill/>
          <a:ln w="0">
            <a:noFill/>
            <a:prstDash val="solid"/>
          </a:ln>
        </p:spPr>
        <p:txBody>
          <a:bodyPr/>
          <a:lstStyle>
            <a:defPPr>
              <a:defRPr sz="1275" b="0">
                <a:solidFill>
                  <a:srgbClr val="152C3A"/>
                </a:solidFill>
              </a:defRPr>
            </a:defPPr>
            <a:lvl1pPr>
              <a:defRPr sz="1275" b="0">
                <a:solidFill>
                  <a:srgbClr val="152C3A"/>
                </a:solidFill>
              </a:defRPr>
            </a:lvl1pPr>
            <a:lvl2pPr>
              <a:defRPr sz="1275" b="0">
                <a:solidFill>
                  <a:srgbClr val="152C3A"/>
                </a:solidFill>
              </a:defRPr>
            </a:lvl2pPr>
            <a:lvl3pPr>
              <a:defRPr sz="1275" b="0">
                <a:solidFill>
                  <a:srgbClr val="152C3A"/>
                </a:solidFill>
              </a:defRPr>
            </a:lvl3pPr>
            <a:lvl4pPr>
              <a:defRPr sz="1275" b="0">
                <a:solidFill>
                  <a:srgbClr val="152C3A"/>
                </a:solidFill>
              </a:defRPr>
            </a:lvl4pPr>
            <a:lvl5pPr>
              <a:defRPr sz="1275" b="0">
                <a:solidFill>
                  <a:srgbClr val="152C3A"/>
                </a:solidFill>
              </a:defRPr>
            </a:lvl5pPr>
            <a:lvl6pPr>
              <a:defRPr sz="1275" b="0">
                <a:solidFill>
                  <a:srgbClr val="152C3A"/>
                </a:solidFill>
              </a:defRPr>
            </a:lvl6pPr>
            <a:lvl7pPr>
              <a:defRPr sz="1275" b="0">
                <a:solidFill>
                  <a:srgbClr val="152C3A"/>
                </a:solidFill>
              </a:defRPr>
            </a:lvl7pPr>
            <a:lvl8pPr>
              <a:defRPr sz="1275" b="0">
                <a:solidFill>
                  <a:srgbClr val="152C3A"/>
                </a:solidFill>
              </a:defRPr>
            </a:lvl8pPr>
            <a:lvl9pPr>
              <a:defRPr sz="1275" b="0">
                <a:solidFill>
                  <a:srgbClr val="152C3A"/>
                </a:solidFill>
              </a:defRPr>
            </a:lvl9pPr>
          </a:lstStyle>
          <a:p>
            <a:pPr>
              <a:defRPr sz="1275" b="0">
                <a:solidFill>
                  <a:srgbClr val="152C3A"/>
                </a:solidFill>
              </a:defRPr>
            </a:pPr>
            <a:r>
              <a:rPr sz="1275" b="0">
                <a:solidFill>
                  <a:srgbClr val="152C3A"/>
                </a:solidFill>
              </a:rPr>
              <a:t>21</a:t>
            </a:r>
          </a:p>
        </p:txBody>
      </p:sp>
      <p:sp>
        <p:nvSpPr>
          <p:cNvPr id="5" name="body-0">
            <a:extLst>
              <a:ext uri="{FF2B5EF4-FFF2-40B4-BE49-F238E27FC236}">
                <a16:creationId xmlns:a16="http://schemas.microsoft.com/office/drawing/2014/main" id="{80581398-910F-44F4-A0FB-652CD5126250}"/>
              </a:ext>
            </a:extLst>
          </p:cNvPr>
          <p:cNvSpPr>
            <a:spLocks noGrp="1"/>
          </p:cNvSpPr>
          <p:nvPr/>
        </p:nvSpPr>
        <p:spPr>
          <a:xfrm>
            <a:off x="619125" y="1571625"/>
            <a:ext cx="10906125" cy="752475"/>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Room 1  Tree shade and thermal comfort</a:t>
            </a:r>
          </a:p>
        </p:txBody>
      </p:sp>
      <p:sp>
        <p:nvSpPr>
          <p:cNvPr id="6" name="body-1">
            <a:extLst>
              <a:ext uri="{FF2B5EF4-FFF2-40B4-BE49-F238E27FC236}">
                <a16:creationId xmlns:a16="http://schemas.microsoft.com/office/drawing/2014/main" id="{8BE26941-7817-44BB-B707-A739A9DE4CD6}"/>
              </a:ext>
            </a:extLst>
          </p:cNvPr>
          <p:cNvSpPr>
            <a:spLocks noGrp="1"/>
          </p:cNvSpPr>
          <p:nvPr/>
        </p:nvSpPr>
        <p:spPr>
          <a:xfrm>
            <a:off x="619125" y="2409825"/>
            <a:ext cx="10906125" cy="752475"/>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Room 2  Transit access and commute time</a:t>
            </a:r>
          </a:p>
        </p:txBody>
      </p:sp>
      <p:sp>
        <p:nvSpPr>
          <p:cNvPr id="7" name="body-2">
            <a:extLst>
              <a:ext uri="{FF2B5EF4-FFF2-40B4-BE49-F238E27FC236}">
                <a16:creationId xmlns:a16="http://schemas.microsoft.com/office/drawing/2014/main" id="{98203C05-F0E6-415D-BAF6-F643E6475F74}"/>
              </a:ext>
            </a:extLst>
          </p:cNvPr>
          <p:cNvSpPr>
            <a:spLocks noGrp="1"/>
          </p:cNvSpPr>
          <p:nvPr/>
        </p:nvSpPr>
        <p:spPr>
          <a:xfrm>
            <a:off x="619125" y="3248025"/>
            <a:ext cx="10906125" cy="752475"/>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Room 3  Park access and physical activity</a:t>
            </a:r>
          </a:p>
        </p:txBody>
      </p:sp>
      <p:sp>
        <p:nvSpPr>
          <p:cNvPr id="8" name="body-3">
            <a:extLst>
              <a:ext uri="{FF2B5EF4-FFF2-40B4-BE49-F238E27FC236}">
                <a16:creationId xmlns:a16="http://schemas.microsoft.com/office/drawing/2014/main" id="{53CF030E-BCB2-4CD5-BAF9-0C0936C125A0}"/>
              </a:ext>
            </a:extLst>
          </p:cNvPr>
          <p:cNvSpPr>
            <a:spLocks noGrp="1"/>
          </p:cNvSpPr>
          <p:nvPr/>
        </p:nvSpPr>
        <p:spPr>
          <a:xfrm>
            <a:off x="619125" y="4086225"/>
            <a:ext cx="10906125" cy="752475"/>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Room 4  Flood disruption and psychological distress</a:t>
            </a:r>
          </a:p>
        </p:txBody>
      </p:sp>
      <p:sp>
        <p:nvSpPr>
          <p:cNvPr id="9" name="body-4">
            <a:extLst>
              <a:ext uri="{FF2B5EF4-FFF2-40B4-BE49-F238E27FC236}">
                <a16:creationId xmlns:a16="http://schemas.microsoft.com/office/drawing/2014/main" id="{5F90460D-9D56-4513-825E-F8CDD21D5503}"/>
              </a:ext>
            </a:extLst>
          </p:cNvPr>
          <p:cNvSpPr>
            <a:spLocks noGrp="1"/>
          </p:cNvSpPr>
          <p:nvPr/>
        </p:nvSpPr>
        <p:spPr>
          <a:xfrm>
            <a:off x="619125" y="4924425"/>
            <a:ext cx="10906125" cy="752475"/>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Room 5  Campus travel and class attendance</a:t>
            </a:r>
          </a:p>
        </p:txBody>
      </p:sp>
    </p:spTree>
    <p:extLst>
      <p:ext uri="{BB962C8B-B14F-4D97-AF65-F5344CB8AC3E}">
        <p14:creationId xmlns:p14="http://schemas.microsoft.com/office/powerpoint/2010/main" val="227993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DD78E76-BE57-45E0-91C9-CE3760AAFF76}"/>
              </a:ext>
            </a:extLst>
          </p:cNvPr>
          <p:cNvSpPr>
            <a:spLocks noGrp="1"/>
          </p:cNvSpPr>
          <p:nvPr/>
        </p:nvSpPr>
        <p:spPr>
          <a:xfrm>
            <a:off x="571500" y="419100"/>
            <a:ext cx="11001375" cy="952500"/>
          </a:xfrm>
          <a:prstGeom prst="rect">
            <a:avLst/>
          </a:prstGeom>
          <a:noFill/>
          <a:ln w="0">
            <a:noFill/>
            <a:prstDash val="solid"/>
          </a:ln>
        </p:spPr>
        <p:txBody>
          <a:bodyPr/>
          <a:lstStyle>
            <a:defPPr>
              <a:defRPr sz="2925" b="1">
                <a:solidFill>
                  <a:srgbClr val="152C3A"/>
                </a:solidFill>
              </a:defRPr>
            </a:defPPr>
            <a:lvl1pPr>
              <a:defRPr sz="2925" b="1">
                <a:solidFill>
                  <a:srgbClr val="152C3A"/>
                </a:solidFill>
              </a:defRPr>
            </a:lvl1pPr>
            <a:lvl2pPr>
              <a:defRPr sz="2925" b="1">
                <a:solidFill>
                  <a:srgbClr val="152C3A"/>
                </a:solidFill>
              </a:defRPr>
            </a:lvl2pPr>
            <a:lvl3pPr>
              <a:defRPr sz="2925" b="1">
                <a:solidFill>
                  <a:srgbClr val="152C3A"/>
                </a:solidFill>
              </a:defRPr>
            </a:lvl3pPr>
            <a:lvl4pPr>
              <a:defRPr sz="2925" b="1">
                <a:solidFill>
                  <a:srgbClr val="152C3A"/>
                </a:solidFill>
              </a:defRPr>
            </a:lvl4pPr>
            <a:lvl5pPr>
              <a:defRPr sz="2925" b="1">
                <a:solidFill>
                  <a:srgbClr val="152C3A"/>
                </a:solidFill>
              </a:defRPr>
            </a:lvl5pPr>
            <a:lvl6pPr>
              <a:defRPr sz="2925" b="1">
                <a:solidFill>
                  <a:srgbClr val="152C3A"/>
                </a:solidFill>
              </a:defRPr>
            </a:lvl6pPr>
            <a:lvl7pPr>
              <a:defRPr sz="2925" b="1">
                <a:solidFill>
                  <a:srgbClr val="152C3A"/>
                </a:solidFill>
              </a:defRPr>
            </a:lvl7pPr>
            <a:lvl8pPr>
              <a:defRPr sz="2925" b="1">
                <a:solidFill>
                  <a:srgbClr val="152C3A"/>
                </a:solidFill>
              </a:defRPr>
            </a:lvl8pPr>
            <a:lvl9pPr>
              <a:defRPr sz="2925" b="1">
                <a:solidFill>
                  <a:srgbClr val="152C3A"/>
                </a:solidFill>
              </a:defRPr>
            </a:lvl9pPr>
          </a:lstStyle>
          <a:p>
            <a:pPr>
              <a:defRPr sz="2925" b="1">
                <a:solidFill>
                  <a:srgbClr val="152C3A"/>
                </a:solidFill>
              </a:defRPr>
            </a:pPr>
            <a:r>
              <a:rPr sz="2925" b="1">
                <a:solidFill>
                  <a:srgbClr val="152C3A"/>
                </a:solidFill>
              </a:rPr>
              <a:t>Room 1 · Tree shade and thermal comfort</a:t>
            </a:r>
          </a:p>
        </p:txBody>
      </p:sp>
      <p:sp>
        <p:nvSpPr>
          <p:cNvPr id="3" name="timing">
            <a:extLst>
              <a:ext uri="{FF2B5EF4-FFF2-40B4-BE49-F238E27FC236}">
                <a16:creationId xmlns:a16="http://schemas.microsoft.com/office/drawing/2014/main" id="{081FDA3A-E75E-42D2-9F9D-B1B97462089A}"/>
              </a:ext>
            </a:extLst>
          </p:cNvPr>
          <p:cNvSpPr>
            <a:spLocks noGrp="1"/>
          </p:cNvSpPr>
          <p:nvPr/>
        </p:nvSpPr>
        <p:spPr>
          <a:xfrm>
            <a:off x="571500" y="6334125"/>
            <a:ext cx="9715500" cy="285750"/>
          </a:xfrm>
          <a:prstGeom prst="rect">
            <a:avLst/>
          </a:prstGeom>
          <a:noFill/>
          <a:ln w="0">
            <a:noFill/>
            <a:prstDash val="solid"/>
          </a:ln>
        </p:spPr>
        <p:txBody>
          <a:bodyPr/>
          <a:lstStyle>
            <a:defPPr>
              <a:defRPr sz="1275" b="0">
                <a:solidFill>
                  <a:srgbClr val="506975"/>
                </a:solidFill>
              </a:defRPr>
            </a:defPPr>
            <a:lvl1pPr>
              <a:defRPr sz="1275" b="0">
                <a:solidFill>
                  <a:srgbClr val="506975"/>
                </a:solidFill>
              </a:defRPr>
            </a:lvl1pPr>
            <a:lvl2pPr>
              <a:defRPr sz="1275" b="0">
                <a:solidFill>
                  <a:srgbClr val="506975"/>
                </a:solidFill>
              </a:defRPr>
            </a:lvl2pPr>
            <a:lvl3pPr>
              <a:defRPr sz="1275" b="0">
                <a:solidFill>
                  <a:srgbClr val="506975"/>
                </a:solidFill>
              </a:defRPr>
            </a:lvl3pPr>
            <a:lvl4pPr>
              <a:defRPr sz="1275" b="0">
                <a:solidFill>
                  <a:srgbClr val="506975"/>
                </a:solidFill>
              </a:defRPr>
            </a:lvl4pPr>
            <a:lvl5pPr>
              <a:defRPr sz="1275" b="0">
                <a:solidFill>
                  <a:srgbClr val="506975"/>
                </a:solidFill>
              </a:defRPr>
            </a:lvl5pPr>
            <a:lvl6pPr>
              <a:defRPr sz="1275" b="0">
                <a:solidFill>
                  <a:srgbClr val="506975"/>
                </a:solidFill>
              </a:defRPr>
            </a:lvl6pPr>
            <a:lvl7pPr>
              <a:defRPr sz="1275" b="0">
                <a:solidFill>
                  <a:srgbClr val="506975"/>
                </a:solidFill>
              </a:defRPr>
            </a:lvl7pPr>
            <a:lvl8pPr>
              <a:defRPr sz="1275" b="0">
                <a:solidFill>
                  <a:srgbClr val="506975"/>
                </a:solidFill>
              </a:defRPr>
            </a:lvl8pPr>
            <a:lvl9pPr>
              <a:defRPr sz="1275" b="0">
                <a:solidFill>
                  <a:srgbClr val="506975"/>
                </a:solidFill>
              </a:defRPr>
            </a:lvl9pPr>
          </a:lstStyle>
          <a:p>
            <a:pPr>
              <a:defRPr sz="1275" b="0">
                <a:solidFill>
                  <a:srgbClr val="506975"/>
                </a:solidFill>
              </a:defRPr>
            </a:pPr>
            <a:r>
              <a:rPr sz="1275" b="0">
                <a:solidFill>
                  <a:srgbClr val="506975"/>
                </a:solidFill>
              </a:rPr>
              <a:t>Reference during breakout</a:t>
            </a:r>
          </a:p>
        </p:txBody>
      </p:sp>
      <p:sp>
        <p:nvSpPr>
          <p:cNvPr id="4" name="number">
            <a:extLst>
              <a:ext uri="{FF2B5EF4-FFF2-40B4-BE49-F238E27FC236}">
                <a16:creationId xmlns:a16="http://schemas.microsoft.com/office/drawing/2014/main" id="{8C91E25D-85C6-42CE-B636-4FC2446E966B}"/>
              </a:ext>
            </a:extLst>
          </p:cNvPr>
          <p:cNvSpPr>
            <a:spLocks noGrp="1"/>
          </p:cNvSpPr>
          <p:nvPr/>
        </p:nvSpPr>
        <p:spPr>
          <a:xfrm>
            <a:off x="11049000" y="6334125"/>
            <a:ext cx="619125" cy="285750"/>
          </a:xfrm>
          <a:prstGeom prst="rect">
            <a:avLst/>
          </a:prstGeom>
          <a:noFill/>
          <a:ln w="0">
            <a:noFill/>
            <a:prstDash val="solid"/>
          </a:ln>
        </p:spPr>
        <p:txBody>
          <a:bodyPr/>
          <a:lstStyle>
            <a:defPPr>
              <a:defRPr sz="1275" b="0">
                <a:solidFill>
                  <a:srgbClr val="152C3A"/>
                </a:solidFill>
              </a:defRPr>
            </a:defPPr>
            <a:lvl1pPr>
              <a:defRPr sz="1275" b="0">
                <a:solidFill>
                  <a:srgbClr val="152C3A"/>
                </a:solidFill>
              </a:defRPr>
            </a:lvl1pPr>
            <a:lvl2pPr>
              <a:defRPr sz="1275" b="0">
                <a:solidFill>
                  <a:srgbClr val="152C3A"/>
                </a:solidFill>
              </a:defRPr>
            </a:lvl2pPr>
            <a:lvl3pPr>
              <a:defRPr sz="1275" b="0">
                <a:solidFill>
                  <a:srgbClr val="152C3A"/>
                </a:solidFill>
              </a:defRPr>
            </a:lvl3pPr>
            <a:lvl4pPr>
              <a:defRPr sz="1275" b="0">
                <a:solidFill>
                  <a:srgbClr val="152C3A"/>
                </a:solidFill>
              </a:defRPr>
            </a:lvl4pPr>
            <a:lvl5pPr>
              <a:defRPr sz="1275" b="0">
                <a:solidFill>
                  <a:srgbClr val="152C3A"/>
                </a:solidFill>
              </a:defRPr>
            </a:lvl5pPr>
            <a:lvl6pPr>
              <a:defRPr sz="1275" b="0">
                <a:solidFill>
                  <a:srgbClr val="152C3A"/>
                </a:solidFill>
              </a:defRPr>
            </a:lvl6pPr>
            <a:lvl7pPr>
              <a:defRPr sz="1275" b="0">
                <a:solidFill>
                  <a:srgbClr val="152C3A"/>
                </a:solidFill>
              </a:defRPr>
            </a:lvl7pPr>
            <a:lvl8pPr>
              <a:defRPr sz="1275" b="0">
                <a:solidFill>
                  <a:srgbClr val="152C3A"/>
                </a:solidFill>
              </a:defRPr>
            </a:lvl8pPr>
            <a:lvl9pPr>
              <a:defRPr sz="1275" b="0">
                <a:solidFill>
                  <a:srgbClr val="152C3A"/>
                </a:solidFill>
              </a:defRPr>
            </a:lvl9pPr>
          </a:lstStyle>
          <a:p>
            <a:pPr>
              <a:defRPr sz="1275" b="0">
                <a:solidFill>
                  <a:srgbClr val="152C3A"/>
                </a:solidFill>
              </a:defRPr>
            </a:pPr>
            <a:r>
              <a:rPr sz="1275" b="0">
                <a:solidFill>
                  <a:srgbClr val="152C3A"/>
                </a:solidFill>
              </a:rPr>
              <a:t>22</a:t>
            </a:r>
          </a:p>
        </p:txBody>
      </p:sp>
      <p:sp>
        <p:nvSpPr>
          <p:cNvPr id="5" name="body-0">
            <a:extLst>
              <a:ext uri="{FF2B5EF4-FFF2-40B4-BE49-F238E27FC236}">
                <a16:creationId xmlns:a16="http://schemas.microsoft.com/office/drawing/2014/main" id="{BA4F32B4-E1BD-40BF-B02A-8AF11BB775C5}"/>
              </a:ext>
            </a:extLst>
          </p:cNvPr>
          <p:cNvSpPr>
            <a:spLocks noGrp="1"/>
          </p:cNvSpPr>
          <p:nvPr/>
        </p:nvSpPr>
        <p:spPr>
          <a:xfrm>
            <a:off x="619125" y="1571625"/>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Does greater tree shade around a home improve an adult resident’s outdoor thermal comfort during summer?</a:t>
            </a:r>
          </a:p>
        </p:txBody>
      </p:sp>
      <p:sp>
        <p:nvSpPr>
          <p:cNvPr id="6" name="body-1">
            <a:extLst>
              <a:ext uri="{FF2B5EF4-FFF2-40B4-BE49-F238E27FC236}">
                <a16:creationId xmlns:a16="http://schemas.microsoft.com/office/drawing/2014/main" id="{31DB547B-6F4A-4C01-B7BF-C3E700061CDA}"/>
              </a:ext>
            </a:extLst>
          </p:cNvPr>
          <p:cNvSpPr>
            <a:spLocks noGrp="1"/>
          </p:cNvSpPr>
          <p:nvPr/>
        </p:nvSpPr>
        <p:spPr>
          <a:xfrm>
            <a:off x="619125" y="2590800"/>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X: shade near the home before summer</a:t>
            </a:r>
          </a:p>
          <a:p>
            <a:pPr>
              <a:defRPr sz="2100" b="0">
                <a:solidFill>
                  <a:srgbClr val="152C3A"/>
                </a:solidFill>
              </a:defRPr>
            </a:pPr>
            <a:r>
              <a:rPr sz="2100" b="0">
                <a:solidFill>
                  <a:srgbClr val="152C3A"/>
                </a:solidFill>
              </a:rPr>
              <a:t>Y: comfort score on hot summer afternoons</a:t>
            </a:r>
          </a:p>
        </p:txBody>
      </p:sp>
      <p:sp>
        <p:nvSpPr>
          <p:cNvPr id="7" name="body-2">
            <a:extLst>
              <a:ext uri="{FF2B5EF4-FFF2-40B4-BE49-F238E27FC236}">
                <a16:creationId xmlns:a16="http://schemas.microsoft.com/office/drawing/2014/main" id="{4EB99B0F-9C3B-4B24-8BDD-0561EB58CF6E}"/>
              </a:ext>
            </a:extLst>
          </p:cNvPr>
          <p:cNvSpPr>
            <a:spLocks noGrp="1"/>
          </p:cNvSpPr>
          <p:nvPr/>
        </p:nvSpPr>
        <p:spPr>
          <a:xfrm>
            <a:off x="619125" y="3609975"/>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Possible ideas: prior household income, housing location, time outdoors, age.</a:t>
            </a:r>
          </a:p>
        </p:txBody>
      </p:sp>
      <p:sp>
        <p:nvSpPr>
          <p:cNvPr id="8" name="body-3">
            <a:extLst>
              <a:ext uri="{FF2B5EF4-FFF2-40B4-BE49-F238E27FC236}">
                <a16:creationId xmlns:a16="http://schemas.microsoft.com/office/drawing/2014/main" id="{11149E46-1B99-4C9F-8084-8D8574B56AB5}"/>
              </a:ext>
            </a:extLst>
          </p:cNvPr>
          <p:cNvSpPr>
            <a:spLocks noGrp="1"/>
          </p:cNvSpPr>
          <p:nvPr/>
        </p:nvSpPr>
        <p:spPr>
          <a:xfrm>
            <a:off x="619125" y="4629150"/>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Possible moderator: usual outdoor working hours.</a:t>
            </a:r>
          </a:p>
        </p:txBody>
      </p:sp>
    </p:spTree>
    <p:extLst>
      <p:ext uri="{BB962C8B-B14F-4D97-AF65-F5344CB8AC3E}">
        <p14:creationId xmlns:p14="http://schemas.microsoft.com/office/powerpoint/2010/main" val="1426827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FEC23F0-F20E-4DAB-9FB9-D687A8CB2EFC}"/>
              </a:ext>
            </a:extLst>
          </p:cNvPr>
          <p:cNvSpPr>
            <a:spLocks noGrp="1"/>
          </p:cNvSpPr>
          <p:nvPr/>
        </p:nvSpPr>
        <p:spPr>
          <a:xfrm>
            <a:off x="571500" y="419100"/>
            <a:ext cx="11001375" cy="952500"/>
          </a:xfrm>
          <a:prstGeom prst="rect">
            <a:avLst/>
          </a:prstGeom>
          <a:noFill/>
          <a:ln w="0">
            <a:noFill/>
            <a:prstDash val="solid"/>
          </a:ln>
        </p:spPr>
        <p:txBody>
          <a:bodyPr/>
          <a:lstStyle>
            <a:defPPr>
              <a:defRPr sz="2925" b="1">
                <a:solidFill>
                  <a:srgbClr val="152C3A"/>
                </a:solidFill>
              </a:defRPr>
            </a:defPPr>
            <a:lvl1pPr>
              <a:defRPr sz="2925" b="1">
                <a:solidFill>
                  <a:srgbClr val="152C3A"/>
                </a:solidFill>
              </a:defRPr>
            </a:lvl1pPr>
            <a:lvl2pPr>
              <a:defRPr sz="2925" b="1">
                <a:solidFill>
                  <a:srgbClr val="152C3A"/>
                </a:solidFill>
              </a:defRPr>
            </a:lvl2pPr>
            <a:lvl3pPr>
              <a:defRPr sz="2925" b="1">
                <a:solidFill>
                  <a:srgbClr val="152C3A"/>
                </a:solidFill>
              </a:defRPr>
            </a:lvl3pPr>
            <a:lvl4pPr>
              <a:defRPr sz="2925" b="1">
                <a:solidFill>
                  <a:srgbClr val="152C3A"/>
                </a:solidFill>
              </a:defRPr>
            </a:lvl4pPr>
            <a:lvl5pPr>
              <a:defRPr sz="2925" b="1">
                <a:solidFill>
                  <a:srgbClr val="152C3A"/>
                </a:solidFill>
              </a:defRPr>
            </a:lvl5pPr>
            <a:lvl6pPr>
              <a:defRPr sz="2925" b="1">
                <a:solidFill>
                  <a:srgbClr val="152C3A"/>
                </a:solidFill>
              </a:defRPr>
            </a:lvl6pPr>
            <a:lvl7pPr>
              <a:defRPr sz="2925" b="1">
                <a:solidFill>
                  <a:srgbClr val="152C3A"/>
                </a:solidFill>
              </a:defRPr>
            </a:lvl7pPr>
            <a:lvl8pPr>
              <a:defRPr sz="2925" b="1">
                <a:solidFill>
                  <a:srgbClr val="152C3A"/>
                </a:solidFill>
              </a:defRPr>
            </a:lvl8pPr>
            <a:lvl9pPr>
              <a:defRPr sz="2925" b="1">
                <a:solidFill>
                  <a:srgbClr val="152C3A"/>
                </a:solidFill>
              </a:defRPr>
            </a:lvl9pPr>
          </a:lstStyle>
          <a:p>
            <a:pPr>
              <a:defRPr sz="2925" b="1">
                <a:solidFill>
                  <a:srgbClr val="152C3A"/>
                </a:solidFill>
              </a:defRPr>
            </a:pPr>
            <a:r>
              <a:rPr sz="2925" b="1">
                <a:solidFill>
                  <a:srgbClr val="152C3A"/>
                </a:solidFill>
              </a:rPr>
              <a:t>Room 2 · Transit access and commute time</a:t>
            </a:r>
          </a:p>
        </p:txBody>
      </p:sp>
      <p:sp>
        <p:nvSpPr>
          <p:cNvPr id="3" name="timing">
            <a:extLst>
              <a:ext uri="{FF2B5EF4-FFF2-40B4-BE49-F238E27FC236}">
                <a16:creationId xmlns:a16="http://schemas.microsoft.com/office/drawing/2014/main" id="{F8F67922-89A1-4D24-83AC-DB18B98D1C8C}"/>
              </a:ext>
            </a:extLst>
          </p:cNvPr>
          <p:cNvSpPr>
            <a:spLocks noGrp="1"/>
          </p:cNvSpPr>
          <p:nvPr/>
        </p:nvSpPr>
        <p:spPr>
          <a:xfrm>
            <a:off x="571500" y="6334125"/>
            <a:ext cx="9715500" cy="285750"/>
          </a:xfrm>
          <a:prstGeom prst="rect">
            <a:avLst/>
          </a:prstGeom>
          <a:noFill/>
          <a:ln w="0">
            <a:noFill/>
            <a:prstDash val="solid"/>
          </a:ln>
        </p:spPr>
        <p:txBody>
          <a:bodyPr/>
          <a:lstStyle>
            <a:defPPr>
              <a:defRPr sz="1275" b="0">
                <a:solidFill>
                  <a:srgbClr val="506975"/>
                </a:solidFill>
              </a:defRPr>
            </a:defPPr>
            <a:lvl1pPr>
              <a:defRPr sz="1275" b="0">
                <a:solidFill>
                  <a:srgbClr val="506975"/>
                </a:solidFill>
              </a:defRPr>
            </a:lvl1pPr>
            <a:lvl2pPr>
              <a:defRPr sz="1275" b="0">
                <a:solidFill>
                  <a:srgbClr val="506975"/>
                </a:solidFill>
              </a:defRPr>
            </a:lvl2pPr>
            <a:lvl3pPr>
              <a:defRPr sz="1275" b="0">
                <a:solidFill>
                  <a:srgbClr val="506975"/>
                </a:solidFill>
              </a:defRPr>
            </a:lvl3pPr>
            <a:lvl4pPr>
              <a:defRPr sz="1275" b="0">
                <a:solidFill>
                  <a:srgbClr val="506975"/>
                </a:solidFill>
              </a:defRPr>
            </a:lvl4pPr>
            <a:lvl5pPr>
              <a:defRPr sz="1275" b="0">
                <a:solidFill>
                  <a:srgbClr val="506975"/>
                </a:solidFill>
              </a:defRPr>
            </a:lvl5pPr>
            <a:lvl6pPr>
              <a:defRPr sz="1275" b="0">
                <a:solidFill>
                  <a:srgbClr val="506975"/>
                </a:solidFill>
              </a:defRPr>
            </a:lvl6pPr>
            <a:lvl7pPr>
              <a:defRPr sz="1275" b="0">
                <a:solidFill>
                  <a:srgbClr val="506975"/>
                </a:solidFill>
              </a:defRPr>
            </a:lvl7pPr>
            <a:lvl8pPr>
              <a:defRPr sz="1275" b="0">
                <a:solidFill>
                  <a:srgbClr val="506975"/>
                </a:solidFill>
              </a:defRPr>
            </a:lvl8pPr>
            <a:lvl9pPr>
              <a:defRPr sz="1275" b="0">
                <a:solidFill>
                  <a:srgbClr val="506975"/>
                </a:solidFill>
              </a:defRPr>
            </a:lvl9pPr>
          </a:lstStyle>
          <a:p>
            <a:pPr>
              <a:defRPr sz="1275" b="0">
                <a:solidFill>
                  <a:srgbClr val="506975"/>
                </a:solidFill>
              </a:defRPr>
            </a:pPr>
            <a:r>
              <a:rPr sz="1275" b="0">
                <a:solidFill>
                  <a:srgbClr val="506975"/>
                </a:solidFill>
              </a:rPr>
              <a:t>Reference during breakout</a:t>
            </a:r>
          </a:p>
        </p:txBody>
      </p:sp>
      <p:sp>
        <p:nvSpPr>
          <p:cNvPr id="4" name="number">
            <a:extLst>
              <a:ext uri="{FF2B5EF4-FFF2-40B4-BE49-F238E27FC236}">
                <a16:creationId xmlns:a16="http://schemas.microsoft.com/office/drawing/2014/main" id="{811D3D93-64C1-46D1-9DE0-4F8F673D435D}"/>
              </a:ext>
            </a:extLst>
          </p:cNvPr>
          <p:cNvSpPr>
            <a:spLocks noGrp="1"/>
          </p:cNvSpPr>
          <p:nvPr/>
        </p:nvSpPr>
        <p:spPr>
          <a:xfrm>
            <a:off x="11049000" y="6334125"/>
            <a:ext cx="619125" cy="285750"/>
          </a:xfrm>
          <a:prstGeom prst="rect">
            <a:avLst/>
          </a:prstGeom>
          <a:noFill/>
          <a:ln w="0">
            <a:noFill/>
            <a:prstDash val="solid"/>
          </a:ln>
        </p:spPr>
        <p:txBody>
          <a:bodyPr/>
          <a:lstStyle>
            <a:defPPr>
              <a:defRPr sz="1275" b="0">
                <a:solidFill>
                  <a:srgbClr val="152C3A"/>
                </a:solidFill>
              </a:defRPr>
            </a:defPPr>
            <a:lvl1pPr>
              <a:defRPr sz="1275" b="0">
                <a:solidFill>
                  <a:srgbClr val="152C3A"/>
                </a:solidFill>
              </a:defRPr>
            </a:lvl1pPr>
            <a:lvl2pPr>
              <a:defRPr sz="1275" b="0">
                <a:solidFill>
                  <a:srgbClr val="152C3A"/>
                </a:solidFill>
              </a:defRPr>
            </a:lvl2pPr>
            <a:lvl3pPr>
              <a:defRPr sz="1275" b="0">
                <a:solidFill>
                  <a:srgbClr val="152C3A"/>
                </a:solidFill>
              </a:defRPr>
            </a:lvl3pPr>
            <a:lvl4pPr>
              <a:defRPr sz="1275" b="0">
                <a:solidFill>
                  <a:srgbClr val="152C3A"/>
                </a:solidFill>
              </a:defRPr>
            </a:lvl4pPr>
            <a:lvl5pPr>
              <a:defRPr sz="1275" b="0">
                <a:solidFill>
                  <a:srgbClr val="152C3A"/>
                </a:solidFill>
              </a:defRPr>
            </a:lvl5pPr>
            <a:lvl6pPr>
              <a:defRPr sz="1275" b="0">
                <a:solidFill>
                  <a:srgbClr val="152C3A"/>
                </a:solidFill>
              </a:defRPr>
            </a:lvl6pPr>
            <a:lvl7pPr>
              <a:defRPr sz="1275" b="0">
                <a:solidFill>
                  <a:srgbClr val="152C3A"/>
                </a:solidFill>
              </a:defRPr>
            </a:lvl7pPr>
            <a:lvl8pPr>
              <a:defRPr sz="1275" b="0">
                <a:solidFill>
                  <a:srgbClr val="152C3A"/>
                </a:solidFill>
              </a:defRPr>
            </a:lvl8pPr>
            <a:lvl9pPr>
              <a:defRPr sz="1275" b="0">
                <a:solidFill>
                  <a:srgbClr val="152C3A"/>
                </a:solidFill>
              </a:defRPr>
            </a:lvl9pPr>
          </a:lstStyle>
          <a:p>
            <a:pPr>
              <a:defRPr sz="1275" b="0">
                <a:solidFill>
                  <a:srgbClr val="152C3A"/>
                </a:solidFill>
              </a:defRPr>
            </a:pPr>
            <a:r>
              <a:rPr sz="1275" b="0">
                <a:solidFill>
                  <a:srgbClr val="152C3A"/>
                </a:solidFill>
              </a:rPr>
              <a:t>23</a:t>
            </a:r>
          </a:p>
        </p:txBody>
      </p:sp>
      <p:sp>
        <p:nvSpPr>
          <p:cNvPr id="5" name="body-0">
            <a:extLst>
              <a:ext uri="{FF2B5EF4-FFF2-40B4-BE49-F238E27FC236}">
                <a16:creationId xmlns:a16="http://schemas.microsoft.com/office/drawing/2014/main" id="{809D5F36-A8C1-4BB5-ACF6-DD13CB8D7C9A}"/>
              </a:ext>
            </a:extLst>
          </p:cNvPr>
          <p:cNvSpPr>
            <a:spLocks noGrp="1"/>
          </p:cNvSpPr>
          <p:nvPr/>
        </p:nvSpPr>
        <p:spPr>
          <a:xfrm>
            <a:off x="619125" y="1571625"/>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Does better access to frequent public transit shorten weekday commute time among employed adults?</a:t>
            </a:r>
          </a:p>
        </p:txBody>
      </p:sp>
      <p:sp>
        <p:nvSpPr>
          <p:cNvPr id="6" name="body-1">
            <a:extLst>
              <a:ext uri="{FF2B5EF4-FFF2-40B4-BE49-F238E27FC236}">
                <a16:creationId xmlns:a16="http://schemas.microsoft.com/office/drawing/2014/main" id="{818186AB-29C5-4F1C-B533-2FEBBB13E985}"/>
              </a:ext>
            </a:extLst>
          </p:cNvPr>
          <p:cNvSpPr>
            <a:spLocks noGrp="1"/>
          </p:cNvSpPr>
          <p:nvPr/>
        </p:nvSpPr>
        <p:spPr>
          <a:xfrm>
            <a:off x="619125" y="2590800"/>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X: transit access near home</a:t>
            </a:r>
          </a:p>
          <a:p>
            <a:pPr>
              <a:defRPr sz="2100" b="0">
                <a:solidFill>
                  <a:srgbClr val="152C3A"/>
                </a:solidFill>
              </a:defRPr>
            </a:pPr>
            <a:r>
              <a:rPr sz="2100" b="0">
                <a:solidFill>
                  <a:srgbClr val="152C3A"/>
                </a:solidFill>
              </a:rPr>
              <a:t>Y: commute duration measured later</a:t>
            </a:r>
          </a:p>
        </p:txBody>
      </p:sp>
      <p:sp>
        <p:nvSpPr>
          <p:cNvPr id="7" name="body-2">
            <a:extLst>
              <a:ext uri="{FF2B5EF4-FFF2-40B4-BE49-F238E27FC236}">
                <a16:creationId xmlns:a16="http://schemas.microsoft.com/office/drawing/2014/main" id="{E69FF380-C502-4B41-BDE4-D112D6A9DDB3}"/>
              </a:ext>
            </a:extLst>
          </p:cNvPr>
          <p:cNvSpPr>
            <a:spLocks noGrp="1"/>
          </p:cNvSpPr>
          <p:nvPr/>
        </p:nvSpPr>
        <p:spPr>
          <a:xfrm>
            <a:off x="619125" y="3609975"/>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Possible ideas: prior income, workplace location, car ownership, travel mode.</a:t>
            </a:r>
          </a:p>
        </p:txBody>
      </p:sp>
      <p:sp>
        <p:nvSpPr>
          <p:cNvPr id="8" name="body-3">
            <a:extLst>
              <a:ext uri="{FF2B5EF4-FFF2-40B4-BE49-F238E27FC236}">
                <a16:creationId xmlns:a16="http://schemas.microsoft.com/office/drawing/2014/main" id="{7C64E579-71DD-414F-92A4-20566DD70DFF}"/>
              </a:ext>
            </a:extLst>
          </p:cNvPr>
          <p:cNvSpPr>
            <a:spLocks noGrp="1"/>
          </p:cNvSpPr>
          <p:nvPr/>
        </p:nvSpPr>
        <p:spPr>
          <a:xfrm>
            <a:off x="619125" y="4629150"/>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Possible moderator: ability to work flexible hours.</a:t>
            </a:r>
          </a:p>
        </p:txBody>
      </p:sp>
    </p:spTree>
    <p:extLst>
      <p:ext uri="{BB962C8B-B14F-4D97-AF65-F5344CB8AC3E}">
        <p14:creationId xmlns:p14="http://schemas.microsoft.com/office/powerpoint/2010/main" val="96296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19A36B2-1105-4E78-AD5D-2CD1128249DC}"/>
              </a:ext>
            </a:extLst>
          </p:cNvPr>
          <p:cNvSpPr>
            <a:spLocks noGrp="1"/>
          </p:cNvSpPr>
          <p:nvPr/>
        </p:nvSpPr>
        <p:spPr>
          <a:xfrm>
            <a:off x="571500" y="419100"/>
            <a:ext cx="11001375" cy="952500"/>
          </a:xfrm>
          <a:prstGeom prst="rect">
            <a:avLst/>
          </a:prstGeom>
          <a:noFill/>
          <a:ln w="0">
            <a:noFill/>
            <a:prstDash val="solid"/>
          </a:ln>
        </p:spPr>
        <p:txBody>
          <a:bodyPr/>
          <a:lstStyle>
            <a:defPPr>
              <a:defRPr sz="2925" b="1">
                <a:solidFill>
                  <a:srgbClr val="152C3A"/>
                </a:solidFill>
              </a:defRPr>
            </a:defPPr>
            <a:lvl1pPr>
              <a:defRPr sz="2925" b="1">
                <a:solidFill>
                  <a:srgbClr val="152C3A"/>
                </a:solidFill>
              </a:defRPr>
            </a:lvl1pPr>
            <a:lvl2pPr>
              <a:defRPr sz="2925" b="1">
                <a:solidFill>
                  <a:srgbClr val="152C3A"/>
                </a:solidFill>
              </a:defRPr>
            </a:lvl2pPr>
            <a:lvl3pPr>
              <a:defRPr sz="2925" b="1">
                <a:solidFill>
                  <a:srgbClr val="152C3A"/>
                </a:solidFill>
              </a:defRPr>
            </a:lvl3pPr>
            <a:lvl4pPr>
              <a:defRPr sz="2925" b="1">
                <a:solidFill>
                  <a:srgbClr val="152C3A"/>
                </a:solidFill>
              </a:defRPr>
            </a:lvl4pPr>
            <a:lvl5pPr>
              <a:defRPr sz="2925" b="1">
                <a:solidFill>
                  <a:srgbClr val="152C3A"/>
                </a:solidFill>
              </a:defRPr>
            </a:lvl5pPr>
            <a:lvl6pPr>
              <a:defRPr sz="2925" b="1">
                <a:solidFill>
                  <a:srgbClr val="152C3A"/>
                </a:solidFill>
              </a:defRPr>
            </a:lvl6pPr>
            <a:lvl7pPr>
              <a:defRPr sz="2925" b="1">
                <a:solidFill>
                  <a:srgbClr val="152C3A"/>
                </a:solidFill>
              </a:defRPr>
            </a:lvl7pPr>
            <a:lvl8pPr>
              <a:defRPr sz="2925" b="1">
                <a:solidFill>
                  <a:srgbClr val="152C3A"/>
                </a:solidFill>
              </a:defRPr>
            </a:lvl8pPr>
            <a:lvl9pPr>
              <a:defRPr sz="2925" b="1">
                <a:solidFill>
                  <a:srgbClr val="152C3A"/>
                </a:solidFill>
              </a:defRPr>
            </a:lvl9pPr>
          </a:lstStyle>
          <a:p>
            <a:pPr>
              <a:defRPr sz="2925" b="1">
                <a:solidFill>
                  <a:srgbClr val="152C3A"/>
                </a:solidFill>
              </a:defRPr>
            </a:pPr>
            <a:r>
              <a:rPr sz="2925" b="1">
                <a:solidFill>
                  <a:srgbClr val="152C3A"/>
                </a:solidFill>
              </a:rPr>
              <a:t>Room 3 · Park access and physical activity</a:t>
            </a:r>
          </a:p>
        </p:txBody>
      </p:sp>
      <p:sp>
        <p:nvSpPr>
          <p:cNvPr id="3" name="timing">
            <a:extLst>
              <a:ext uri="{FF2B5EF4-FFF2-40B4-BE49-F238E27FC236}">
                <a16:creationId xmlns:a16="http://schemas.microsoft.com/office/drawing/2014/main" id="{5FEDA569-7A47-4984-9FC2-B39B765EC262}"/>
              </a:ext>
            </a:extLst>
          </p:cNvPr>
          <p:cNvSpPr>
            <a:spLocks noGrp="1"/>
          </p:cNvSpPr>
          <p:nvPr/>
        </p:nvSpPr>
        <p:spPr>
          <a:xfrm>
            <a:off x="571500" y="6334125"/>
            <a:ext cx="9715500" cy="285750"/>
          </a:xfrm>
          <a:prstGeom prst="rect">
            <a:avLst/>
          </a:prstGeom>
          <a:noFill/>
          <a:ln w="0">
            <a:noFill/>
            <a:prstDash val="solid"/>
          </a:ln>
        </p:spPr>
        <p:txBody>
          <a:bodyPr/>
          <a:lstStyle>
            <a:defPPr>
              <a:defRPr sz="1275" b="0">
                <a:solidFill>
                  <a:srgbClr val="506975"/>
                </a:solidFill>
              </a:defRPr>
            </a:defPPr>
            <a:lvl1pPr>
              <a:defRPr sz="1275" b="0">
                <a:solidFill>
                  <a:srgbClr val="506975"/>
                </a:solidFill>
              </a:defRPr>
            </a:lvl1pPr>
            <a:lvl2pPr>
              <a:defRPr sz="1275" b="0">
                <a:solidFill>
                  <a:srgbClr val="506975"/>
                </a:solidFill>
              </a:defRPr>
            </a:lvl2pPr>
            <a:lvl3pPr>
              <a:defRPr sz="1275" b="0">
                <a:solidFill>
                  <a:srgbClr val="506975"/>
                </a:solidFill>
              </a:defRPr>
            </a:lvl3pPr>
            <a:lvl4pPr>
              <a:defRPr sz="1275" b="0">
                <a:solidFill>
                  <a:srgbClr val="506975"/>
                </a:solidFill>
              </a:defRPr>
            </a:lvl4pPr>
            <a:lvl5pPr>
              <a:defRPr sz="1275" b="0">
                <a:solidFill>
                  <a:srgbClr val="506975"/>
                </a:solidFill>
              </a:defRPr>
            </a:lvl5pPr>
            <a:lvl6pPr>
              <a:defRPr sz="1275" b="0">
                <a:solidFill>
                  <a:srgbClr val="506975"/>
                </a:solidFill>
              </a:defRPr>
            </a:lvl6pPr>
            <a:lvl7pPr>
              <a:defRPr sz="1275" b="0">
                <a:solidFill>
                  <a:srgbClr val="506975"/>
                </a:solidFill>
              </a:defRPr>
            </a:lvl7pPr>
            <a:lvl8pPr>
              <a:defRPr sz="1275" b="0">
                <a:solidFill>
                  <a:srgbClr val="506975"/>
                </a:solidFill>
              </a:defRPr>
            </a:lvl8pPr>
            <a:lvl9pPr>
              <a:defRPr sz="1275" b="0">
                <a:solidFill>
                  <a:srgbClr val="506975"/>
                </a:solidFill>
              </a:defRPr>
            </a:lvl9pPr>
          </a:lstStyle>
          <a:p>
            <a:pPr>
              <a:defRPr sz="1275" b="0">
                <a:solidFill>
                  <a:srgbClr val="506975"/>
                </a:solidFill>
              </a:defRPr>
            </a:pPr>
            <a:r>
              <a:rPr sz="1275" b="0">
                <a:solidFill>
                  <a:srgbClr val="506975"/>
                </a:solidFill>
              </a:rPr>
              <a:t>Reference during breakout</a:t>
            </a:r>
          </a:p>
        </p:txBody>
      </p:sp>
      <p:sp>
        <p:nvSpPr>
          <p:cNvPr id="4" name="number">
            <a:extLst>
              <a:ext uri="{FF2B5EF4-FFF2-40B4-BE49-F238E27FC236}">
                <a16:creationId xmlns:a16="http://schemas.microsoft.com/office/drawing/2014/main" id="{FD789011-4F33-4CAB-B30F-500658DDE6A6}"/>
              </a:ext>
            </a:extLst>
          </p:cNvPr>
          <p:cNvSpPr>
            <a:spLocks noGrp="1"/>
          </p:cNvSpPr>
          <p:nvPr/>
        </p:nvSpPr>
        <p:spPr>
          <a:xfrm>
            <a:off x="11049000" y="6334125"/>
            <a:ext cx="619125" cy="285750"/>
          </a:xfrm>
          <a:prstGeom prst="rect">
            <a:avLst/>
          </a:prstGeom>
          <a:noFill/>
          <a:ln w="0">
            <a:noFill/>
            <a:prstDash val="solid"/>
          </a:ln>
        </p:spPr>
        <p:txBody>
          <a:bodyPr/>
          <a:lstStyle>
            <a:defPPr>
              <a:defRPr sz="1275" b="0">
                <a:solidFill>
                  <a:srgbClr val="152C3A"/>
                </a:solidFill>
              </a:defRPr>
            </a:defPPr>
            <a:lvl1pPr>
              <a:defRPr sz="1275" b="0">
                <a:solidFill>
                  <a:srgbClr val="152C3A"/>
                </a:solidFill>
              </a:defRPr>
            </a:lvl1pPr>
            <a:lvl2pPr>
              <a:defRPr sz="1275" b="0">
                <a:solidFill>
                  <a:srgbClr val="152C3A"/>
                </a:solidFill>
              </a:defRPr>
            </a:lvl2pPr>
            <a:lvl3pPr>
              <a:defRPr sz="1275" b="0">
                <a:solidFill>
                  <a:srgbClr val="152C3A"/>
                </a:solidFill>
              </a:defRPr>
            </a:lvl3pPr>
            <a:lvl4pPr>
              <a:defRPr sz="1275" b="0">
                <a:solidFill>
                  <a:srgbClr val="152C3A"/>
                </a:solidFill>
              </a:defRPr>
            </a:lvl4pPr>
            <a:lvl5pPr>
              <a:defRPr sz="1275" b="0">
                <a:solidFill>
                  <a:srgbClr val="152C3A"/>
                </a:solidFill>
              </a:defRPr>
            </a:lvl5pPr>
            <a:lvl6pPr>
              <a:defRPr sz="1275" b="0">
                <a:solidFill>
                  <a:srgbClr val="152C3A"/>
                </a:solidFill>
              </a:defRPr>
            </a:lvl6pPr>
            <a:lvl7pPr>
              <a:defRPr sz="1275" b="0">
                <a:solidFill>
                  <a:srgbClr val="152C3A"/>
                </a:solidFill>
              </a:defRPr>
            </a:lvl7pPr>
            <a:lvl8pPr>
              <a:defRPr sz="1275" b="0">
                <a:solidFill>
                  <a:srgbClr val="152C3A"/>
                </a:solidFill>
              </a:defRPr>
            </a:lvl8pPr>
            <a:lvl9pPr>
              <a:defRPr sz="1275" b="0">
                <a:solidFill>
                  <a:srgbClr val="152C3A"/>
                </a:solidFill>
              </a:defRPr>
            </a:lvl9pPr>
          </a:lstStyle>
          <a:p>
            <a:pPr>
              <a:defRPr sz="1275" b="0">
                <a:solidFill>
                  <a:srgbClr val="152C3A"/>
                </a:solidFill>
              </a:defRPr>
            </a:pPr>
            <a:r>
              <a:rPr sz="1275" b="0">
                <a:solidFill>
                  <a:srgbClr val="152C3A"/>
                </a:solidFill>
              </a:rPr>
              <a:t>24</a:t>
            </a:r>
          </a:p>
        </p:txBody>
      </p:sp>
      <p:sp>
        <p:nvSpPr>
          <p:cNvPr id="5" name="body-0">
            <a:extLst>
              <a:ext uri="{FF2B5EF4-FFF2-40B4-BE49-F238E27FC236}">
                <a16:creationId xmlns:a16="http://schemas.microsoft.com/office/drawing/2014/main" id="{8DFFAA81-EA91-4C17-B063-A036A7265059}"/>
              </a:ext>
            </a:extLst>
          </p:cNvPr>
          <p:cNvSpPr>
            <a:spLocks noGrp="1"/>
          </p:cNvSpPr>
          <p:nvPr/>
        </p:nvSpPr>
        <p:spPr>
          <a:xfrm>
            <a:off x="619125" y="1571625"/>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Does easier access to a usable park increase weekly physical activity among adult residents?</a:t>
            </a:r>
          </a:p>
        </p:txBody>
      </p:sp>
      <p:sp>
        <p:nvSpPr>
          <p:cNvPr id="6" name="body-1">
            <a:extLst>
              <a:ext uri="{FF2B5EF4-FFF2-40B4-BE49-F238E27FC236}">
                <a16:creationId xmlns:a16="http://schemas.microsoft.com/office/drawing/2014/main" id="{202B6EA8-7D99-455F-A88E-C0A84B336AA1}"/>
              </a:ext>
            </a:extLst>
          </p:cNvPr>
          <p:cNvSpPr>
            <a:spLocks noGrp="1"/>
          </p:cNvSpPr>
          <p:nvPr/>
        </p:nvSpPr>
        <p:spPr>
          <a:xfrm>
            <a:off x="619125" y="2590800"/>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X: walking access to a usable park</a:t>
            </a:r>
          </a:p>
          <a:p>
            <a:pPr>
              <a:defRPr sz="2100" b="0">
                <a:solidFill>
                  <a:srgbClr val="152C3A"/>
                </a:solidFill>
              </a:defRPr>
            </a:pPr>
            <a:r>
              <a:rPr sz="2100" b="0">
                <a:solidFill>
                  <a:srgbClr val="152C3A"/>
                </a:solidFill>
              </a:rPr>
              <a:t>Y: later weekly activity minutes</a:t>
            </a:r>
          </a:p>
        </p:txBody>
      </p:sp>
      <p:sp>
        <p:nvSpPr>
          <p:cNvPr id="7" name="body-2">
            <a:extLst>
              <a:ext uri="{FF2B5EF4-FFF2-40B4-BE49-F238E27FC236}">
                <a16:creationId xmlns:a16="http://schemas.microsoft.com/office/drawing/2014/main" id="{68041FCE-3B79-47CC-8D1A-04D458ED2CAC}"/>
              </a:ext>
            </a:extLst>
          </p:cNvPr>
          <p:cNvSpPr>
            <a:spLocks noGrp="1"/>
          </p:cNvSpPr>
          <p:nvPr/>
        </p:nvSpPr>
        <p:spPr>
          <a:xfrm>
            <a:off x="619125" y="3609975"/>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Possible ideas: prior health, exercise preferences, residential choice, park visits.</a:t>
            </a:r>
          </a:p>
        </p:txBody>
      </p:sp>
      <p:sp>
        <p:nvSpPr>
          <p:cNvPr id="8" name="body-3">
            <a:extLst>
              <a:ext uri="{FF2B5EF4-FFF2-40B4-BE49-F238E27FC236}">
                <a16:creationId xmlns:a16="http://schemas.microsoft.com/office/drawing/2014/main" id="{C9FBAEA0-B932-4EAC-8D43-E85EAA45F15D}"/>
              </a:ext>
            </a:extLst>
          </p:cNvPr>
          <p:cNvSpPr>
            <a:spLocks noGrp="1"/>
          </p:cNvSpPr>
          <p:nvPr/>
        </p:nvSpPr>
        <p:spPr>
          <a:xfrm>
            <a:off x="619125" y="4629150"/>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Possible moderator: perceived neighborhood safety.</a:t>
            </a:r>
          </a:p>
        </p:txBody>
      </p:sp>
    </p:spTree>
    <p:extLst>
      <p:ext uri="{BB962C8B-B14F-4D97-AF65-F5344CB8AC3E}">
        <p14:creationId xmlns:p14="http://schemas.microsoft.com/office/powerpoint/2010/main" val="1437640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8563AD7-B395-422F-B661-C4A471E6B58C}"/>
              </a:ext>
            </a:extLst>
          </p:cNvPr>
          <p:cNvSpPr>
            <a:spLocks noGrp="1"/>
          </p:cNvSpPr>
          <p:nvPr/>
        </p:nvSpPr>
        <p:spPr>
          <a:xfrm>
            <a:off x="571500" y="419100"/>
            <a:ext cx="11001375" cy="952500"/>
          </a:xfrm>
          <a:prstGeom prst="rect">
            <a:avLst/>
          </a:prstGeom>
          <a:noFill/>
          <a:ln w="0">
            <a:noFill/>
            <a:prstDash val="solid"/>
          </a:ln>
        </p:spPr>
        <p:txBody>
          <a:bodyPr/>
          <a:lstStyle>
            <a:defPPr>
              <a:defRPr sz="2925" b="1">
                <a:solidFill>
                  <a:srgbClr val="152C3A"/>
                </a:solidFill>
              </a:defRPr>
            </a:defPPr>
            <a:lvl1pPr>
              <a:defRPr sz="2925" b="1">
                <a:solidFill>
                  <a:srgbClr val="152C3A"/>
                </a:solidFill>
              </a:defRPr>
            </a:lvl1pPr>
            <a:lvl2pPr>
              <a:defRPr sz="2925" b="1">
                <a:solidFill>
                  <a:srgbClr val="152C3A"/>
                </a:solidFill>
              </a:defRPr>
            </a:lvl2pPr>
            <a:lvl3pPr>
              <a:defRPr sz="2925" b="1">
                <a:solidFill>
                  <a:srgbClr val="152C3A"/>
                </a:solidFill>
              </a:defRPr>
            </a:lvl3pPr>
            <a:lvl4pPr>
              <a:defRPr sz="2925" b="1">
                <a:solidFill>
                  <a:srgbClr val="152C3A"/>
                </a:solidFill>
              </a:defRPr>
            </a:lvl4pPr>
            <a:lvl5pPr>
              <a:defRPr sz="2925" b="1">
                <a:solidFill>
                  <a:srgbClr val="152C3A"/>
                </a:solidFill>
              </a:defRPr>
            </a:lvl5pPr>
            <a:lvl6pPr>
              <a:defRPr sz="2925" b="1">
                <a:solidFill>
                  <a:srgbClr val="152C3A"/>
                </a:solidFill>
              </a:defRPr>
            </a:lvl6pPr>
            <a:lvl7pPr>
              <a:defRPr sz="2925" b="1">
                <a:solidFill>
                  <a:srgbClr val="152C3A"/>
                </a:solidFill>
              </a:defRPr>
            </a:lvl7pPr>
            <a:lvl8pPr>
              <a:defRPr sz="2925" b="1">
                <a:solidFill>
                  <a:srgbClr val="152C3A"/>
                </a:solidFill>
              </a:defRPr>
            </a:lvl8pPr>
            <a:lvl9pPr>
              <a:defRPr sz="2925" b="1">
                <a:solidFill>
                  <a:srgbClr val="152C3A"/>
                </a:solidFill>
              </a:defRPr>
            </a:lvl9pPr>
          </a:lstStyle>
          <a:p>
            <a:pPr>
              <a:defRPr sz="2925" b="1">
                <a:solidFill>
                  <a:srgbClr val="152C3A"/>
                </a:solidFill>
              </a:defRPr>
            </a:pPr>
            <a:r>
              <a:rPr sz="2925" b="1">
                <a:solidFill>
                  <a:srgbClr val="152C3A"/>
                </a:solidFill>
              </a:rPr>
              <a:t>Room 4 · Flood disruption and psychological distress</a:t>
            </a:r>
          </a:p>
        </p:txBody>
      </p:sp>
      <p:sp>
        <p:nvSpPr>
          <p:cNvPr id="3" name="timing">
            <a:extLst>
              <a:ext uri="{FF2B5EF4-FFF2-40B4-BE49-F238E27FC236}">
                <a16:creationId xmlns:a16="http://schemas.microsoft.com/office/drawing/2014/main" id="{E8757970-FC75-4C72-AB85-A4AE40DDFCA6}"/>
              </a:ext>
            </a:extLst>
          </p:cNvPr>
          <p:cNvSpPr>
            <a:spLocks noGrp="1"/>
          </p:cNvSpPr>
          <p:nvPr/>
        </p:nvSpPr>
        <p:spPr>
          <a:xfrm>
            <a:off x="571500" y="6334125"/>
            <a:ext cx="9715500" cy="285750"/>
          </a:xfrm>
          <a:prstGeom prst="rect">
            <a:avLst/>
          </a:prstGeom>
          <a:noFill/>
          <a:ln w="0">
            <a:noFill/>
            <a:prstDash val="solid"/>
          </a:ln>
        </p:spPr>
        <p:txBody>
          <a:bodyPr/>
          <a:lstStyle>
            <a:defPPr>
              <a:defRPr sz="1275" b="0">
                <a:solidFill>
                  <a:srgbClr val="506975"/>
                </a:solidFill>
              </a:defRPr>
            </a:defPPr>
            <a:lvl1pPr>
              <a:defRPr sz="1275" b="0">
                <a:solidFill>
                  <a:srgbClr val="506975"/>
                </a:solidFill>
              </a:defRPr>
            </a:lvl1pPr>
            <a:lvl2pPr>
              <a:defRPr sz="1275" b="0">
                <a:solidFill>
                  <a:srgbClr val="506975"/>
                </a:solidFill>
              </a:defRPr>
            </a:lvl2pPr>
            <a:lvl3pPr>
              <a:defRPr sz="1275" b="0">
                <a:solidFill>
                  <a:srgbClr val="506975"/>
                </a:solidFill>
              </a:defRPr>
            </a:lvl3pPr>
            <a:lvl4pPr>
              <a:defRPr sz="1275" b="0">
                <a:solidFill>
                  <a:srgbClr val="506975"/>
                </a:solidFill>
              </a:defRPr>
            </a:lvl4pPr>
            <a:lvl5pPr>
              <a:defRPr sz="1275" b="0">
                <a:solidFill>
                  <a:srgbClr val="506975"/>
                </a:solidFill>
              </a:defRPr>
            </a:lvl5pPr>
            <a:lvl6pPr>
              <a:defRPr sz="1275" b="0">
                <a:solidFill>
                  <a:srgbClr val="506975"/>
                </a:solidFill>
              </a:defRPr>
            </a:lvl6pPr>
            <a:lvl7pPr>
              <a:defRPr sz="1275" b="0">
                <a:solidFill>
                  <a:srgbClr val="506975"/>
                </a:solidFill>
              </a:defRPr>
            </a:lvl7pPr>
            <a:lvl8pPr>
              <a:defRPr sz="1275" b="0">
                <a:solidFill>
                  <a:srgbClr val="506975"/>
                </a:solidFill>
              </a:defRPr>
            </a:lvl8pPr>
            <a:lvl9pPr>
              <a:defRPr sz="1275" b="0">
                <a:solidFill>
                  <a:srgbClr val="506975"/>
                </a:solidFill>
              </a:defRPr>
            </a:lvl9pPr>
          </a:lstStyle>
          <a:p>
            <a:pPr>
              <a:defRPr sz="1275" b="0">
                <a:solidFill>
                  <a:srgbClr val="506975"/>
                </a:solidFill>
              </a:defRPr>
            </a:pPr>
            <a:r>
              <a:rPr sz="1275" b="0">
                <a:solidFill>
                  <a:srgbClr val="506975"/>
                </a:solidFill>
              </a:rPr>
              <a:t>Reference during breakout</a:t>
            </a:r>
          </a:p>
        </p:txBody>
      </p:sp>
      <p:sp>
        <p:nvSpPr>
          <p:cNvPr id="4" name="number">
            <a:extLst>
              <a:ext uri="{FF2B5EF4-FFF2-40B4-BE49-F238E27FC236}">
                <a16:creationId xmlns:a16="http://schemas.microsoft.com/office/drawing/2014/main" id="{F827386C-03F9-4FAD-8CE2-D6EE6F83149A}"/>
              </a:ext>
            </a:extLst>
          </p:cNvPr>
          <p:cNvSpPr>
            <a:spLocks noGrp="1"/>
          </p:cNvSpPr>
          <p:nvPr/>
        </p:nvSpPr>
        <p:spPr>
          <a:xfrm>
            <a:off x="11049000" y="6334125"/>
            <a:ext cx="619125" cy="285750"/>
          </a:xfrm>
          <a:prstGeom prst="rect">
            <a:avLst/>
          </a:prstGeom>
          <a:noFill/>
          <a:ln w="0">
            <a:noFill/>
            <a:prstDash val="solid"/>
          </a:ln>
        </p:spPr>
        <p:txBody>
          <a:bodyPr/>
          <a:lstStyle>
            <a:defPPr>
              <a:defRPr sz="1275" b="0">
                <a:solidFill>
                  <a:srgbClr val="152C3A"/>
                </a:solidFill>
              </a:defRPr>
            </a:defPPr>
            <a:lvl1pPr>
              <a:defRPr sz="1275" b="0">
                <a:solidFill>
                  <a:srgbClr val="152C3A"/>
                </a:solidFill>
              </a:defRPr>
            </a:lvl1pPr>
            <a:lvl2pPr>
              <a:defRPr sz="1275" b="0">
                <a:solidFill>
                  <a:srgbClr val="152C3A"/>
                </a:solidFill>
              </a:defRPr>
            </a:lvl2pPr>
            <a:lvl3pPr>
              <a:defRPr sz="1275" b="0">
                <a:solidFill>
                  <a:srgbClr val="152C3A"/>
                </a:solidFill>
              </a:defRPr>
            </a:lvl3pPr>
            <a:lvl4pPr>
              <a:defRPr sz="1275" b="0">
                <a:solidFill>
                  <a:srgbClr val="152C3A"/>
                </a:solidFill>
              </a:defRPr>
            </a:lvl4pPr>
            <a:lvl5pPr>
              <a:defRPr sz="1275" b="0">
                <a:solidFill>
                  <a:srgbClr val="152C3A"/>
                </a:solidFill>
              </a:defRPr>
            </a:lvl5pPr>
            <a:lvl6pPr>
              <a:defRPr sz="1275" b="0">
                <a:solidFill>
                  <a:srgbClr val="152C3A"/>
                </a:solidFill>
              </a:defRPr>
            </a:lvl6pPr>
            <a:lvl7pPr>
              <a:defRPr sz="1275" b="0">
                <a:solidFill>
                  <a:srgbClr val="152C3A"/>
                </a:solidFill>
              </a:defRPr>
            </a:lvl7pPr>
            <a:lvl8pPr>
              <a:defRPr sz="1275" b="0">
                <a:solidFill>
                  <a:srgbClr val="152C3A"/>
                </a:solidFill>
              </a:defRPr>
            </a:lvl8pPr>
            <a:lvl9pPr>
              <a:defRPr sz="1275" b="0">
                <a:solidFill>
                  <a:srgbClr val="152C3A"/>
                </a:solidFill>
              </a:defRPr>
            </a:lvl9pPr>
          </a:lstStyle>
          <a:p>
            <a:pPr>
              <a:defRPr sz="1275" b="0">
                <a:solidFill>
                  <a:srgbClr val="152C3A"/>
                </a:solidFill>
              </a:defRPr>
            </a:pPr>
            <a:r>
              <a:rPr sz="1275" b="0">
                <a:solidFill>
                  <a:srgbClr val="152C3A"/>
                </a:solidFill>
              </a:rPr>
              <a:t>25</a:t>
            </a:r>
          </a:p>
        </p:txBody>
      </p:sp>
      <p:sp>
        <p:nvSpPr>
          <p:cNvPr id="5" name="body-0">
            <a:extLst>
              <a:ext uri="{FF2B5EF4-FFF2-40B4-BE49-F238E27FC236}">
                <a16:creationId xmlns:a16="http://schemas.microsoft.com/office/drawing/2014/main" id="{3621C7E1-A641-4E73-9698-FA4B87F2309E}"/>
              </a:ext>
            </a:extLst>
          </p:cNvPr>
          <p:cNvSpPr>
            <a:spLocks noGrp="1"/>
          </p:cNvSpPr>
          <p:nvPr/>
        </p:nvSpPr>
        <p:spPr>
          <a:xfrm>
            <a:off x="619125" y="1571625"/>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Does flood-related damage to the home increase later psychological distress among adult residents?</a:t>
            </a:r>
          </a:p>
        </p:txBody>
      </p:sp>
      <p:sp>
        <p:nvSpPr>
          <p:cNvPr id="6" name="body-1">
            <a:extLst>
              <a:ext uri="{FF2B5EF4-FFF2-40B4-BE49-F238E27FC236}">
                <a16:creationId xmlns:a16="http://schemas.microsoft.com/office/drawing/2014/main" id="{3DBC0CEB-5F12-4288-AFCD-40C4DF72B733}"/>
              </a:ext>
            </a:extLst>
          </p:cNvPr>
          <p:cNvSpPr>
            <a:spLocks noGrp="1"/>
          </p:cNvSpPr>
          <p:nvPr/>
        </p:nvSpPr>
        <p:spPr>
          <a:xfrm>
            <a:off x="619125" y="2590800"/>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X: home damage during a flood</a:t>
            </a:r>
          </a:p>
          <a:p>
            <a:pPr>
              <a:defRPr sz="2100" b="0">
                <a:solidFill>
                  <a:srgbClr val="152C3A"/>
                </a:solidFill>
              </a:defRPr>
            </a:pPr>
            <a:r>
              <a:rPr sz="2100" b="0">
                <a:solidFill>
                  <a:srgbClr val="152C3A"/>
                </a:solidFill>
              </a:rPr>
              <a:t>Y: distress score one month later</a:t>
            </a:r>
          </a:p>
        </p:txBody>
      </p:sp>
      <p:sp>
        <p:nvSpPr>
          <p:cNvPr id="7" name="body-2">
            <a:extLst>
              <a:ext uri="{FF2B5EF4-FFF2-40B4-BE49-F238E27FC236}">
                <a16:creationId xmlns:a16="http://schemas.microsoft.com/office/drawing/2014/main" id="{6476552A-ACF9-4169-BE85-C903E4B2988D}"/>
              </a:ext>
            </a:extLst>
          </p:cNvPr>
          <p:cNvSpPr>
            <a:spLocks noGrp="1"/>
          </p:cNvSpPr>
          <p:nvPr/>
        </p:nvSpPr>
        <p:spPr>
          <a:xfrm>
            <a:off x="619125" y="3609975"/>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Possible ideas: prior income, prior mental health, residential location, displacement.</a:t>
            </a:r>
          </a:p>
        </p:txBody>
      </p:sp>
      <p:sp>
        <p:nvSpPr>
          <p:cNvPr id="8" name="body-3">
            <a:extLst>
              <a:ext uri="{FF2B5EF4-FFF2-40B4-BE49-F238E27FC236}">
                <a16:creationId xmlns:a16="http://schemas.microsoft.com/office/drawing/2014/main" id="{DE02F771-21AA-4E17-8CB8-AD65AA0FD86A}"/>
              </a:ext>
            </a:extLst>
          </p:cNvPr>
          <p:cNvSpPr>
            <a:spLocks noGrp="1"/>
          </p:cNvSpPr>
          <p:nvPr/>
        </p:nvSpPr>
        <p:spPr>
          <a:xfrm>
            <a:off x="619125" y="4629150"/>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Possible moderator: social support available before the flood.</a:t>
            </a:r>
          </a:p>
        </p:txBody>
      </p:sp>
    </p:spTree>
    <p:extLst>
      <p:ext uri="{BB962C8B-B14F-4D97-AF65-F5344CB8AC3E}">
        <p14:creationId xmlns:p14="http://schemas.microsoft.com/office/powerpoint/2010/main" val="744343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9698F46-BBDD-4ED5-9761-9BA332B69FFC}"/>
              </a:ext>
            </a:extLst>
          </p:cNvPr>
          <p:cNvSpPr>
            <a:spLocks noGrp="1"/>
          </p:cNvSpPr>
          <p:nvPr/>
        </p:nvSpPr>
        <p:spPr>
          <a:xfrm>
            <a:off x="571500" y="419100"/>
            <a:ext cx="11001375" cy="952500"/>
          </a:xfrm>
          <a:prstGeom prst="rect">
            <a:avLst/>
          </a:prstGeom>
          <a:noFill/>
          <a:ln w="0">
            <a:noFill/>
            <a:prstDash val="solid"/>
          </a:ln>
        </p:spPr>
        <p:txBody>
          <a:bodyPr/>
          <a:lstStyle>
            <a:defPPr>
              <a:defRPr sz="2925" b="1">
                <a:solidFill>
                  <a:srgbClr val="152C3A"/>
                </a:solidFill>
              </a:defRPr>
            </a:defPPr>
            <a:lvl1pPr>
              <a:defRPr sz="2925" b="1">
                <a:solidFill>
                  <a:srgbClr val="152C3A"/>
                </a:solidFill>
              </a:defRPr>
            </a:lvl1pPr>
            <a:lvl2pPr>
              <a:defRPr sz="2925" b="1">
                <a:solidFill>
                  <a:srgbClr val="152C3A"/>
                </a:solidFill>
              </a:defRPr>
            </a:lvl2pPr>
            <a:lvl3pPr>
              <a:defRPr sz="2925" b="1">
                <a:solidFill>
                  <a:srgbClr val="152C3A"/>
                </a:solidFill>
              </a:defRPr>
            </a:lvl3pPr>
            <a:lvl4pPr>
              <a:defRPr sz="2925" b="1">
                <a:solidFill>
                  <a:srgbClr val="152C3A"/>
                </a:solidFill>
              </a:defRPr>
            </a:lvl4pPr>
            <a:lvl5pPr>
              <a:defRPr sz="2925" b="1">
                <a:solidFill>
                  <a:srgbClr val="152C3A"/>
                </a:solidFill>
              </a:defRPr>
            </a:lvl5pPr>
            <a:lvl6pPr>
              <a:defRPr sz="2925" b="1">
                <a:solidFill>
                  <a:srgbClr val="152C3A"/>
                </a:solidFill>
              </a:defRPr>
            </a:lvl6pPr>
            <a:lvl7pPr>
              <a:defRPr sz="2925" b="1">
                <a:solidFill>
                  <a:srgbClr val="152C3A"/>
                </a:solidFill>
              </a:defRPr>
            </a:lvl7pPr>
            <a:lvl8pPr>
              <a:defRPr sz="2925" b="1">
                <a:solidFill>
                  <a:srgbClr val="152C3A"/>
                </a:solidFill>
              </a:defRPr>
            </a:lvl8pPr>
            <a:lvl9pPr>
              <a:defRPr sz="2925" b="1">
                <a:solidFill>
                  <a:srgbClr val="152C3A"/>
                </a:solidFill>
              </a:defRPr>
            </a:lvl9pPr>
          </a:lstStyle>
          <a:p>
            <a:pPr>
              <a:defRPr sz="2925" b="1">
                <a:solidFill>
                  <a:srgbClr val="152C3A"/>
                </a:solidFill>
              </a:defRPr>
            </a:pPr>
            <a:r>
              <a:rPr sz="2925" b="1">
                <a:solidFill>
                  <a:srgbClr val="152C3A"/>
                </a:solidFill>
              </a:rPr>
              <a:t>Room 5 · Campus travel and class attendance</a:t>
            </a:r>
          </a:p>
        </p:txBody>
      </p:sp>
      <p:sp>
        <p:nvSpPr>
          <p:cNvPr id="3" name="timing">
            <a:extLst>
              <a:ext uri="{FF2B5EF4-FFF2-40B4-BE49-F238E27FC236}">
                <a16:creationId xmlns:a16="http://schemas.microsoft.com/office/drawing/2014/main" id="{CD94994C-24A0-4CE3-8CE9-1AB4EC4D9F28}"/>
              </a:ext>
            </a:extLst>
          </p:cNvPr>
          <p:cNvSpPr>
            <a:spLocks noGrp="1"/>
          </p:cNvSpPr>
          <p:nvPr/>
        </p:nvSpPr>
        <p:spPr>
          <a:xfrm>
            <a:off x="571500" y="6334125"/>
            <a:ext cx="9715500" cy="285750"/>
          </a:xfrm>
          <a:prstGeom prst="rect">
            <a:avLst/>
          </a:prstGeom>
          <a:noFill/>
          <a:ln w="0">
            <a:noFill/>
            <a:prstDash val="solid"/>
          </a:ln>
        </p:spPr>
        <p:txBody>
          <a:bodyPr/>
          <a:lstStyle>
            <a:defPPr>
              <a:defRPr sz="1275" b="0">
                <a:solidFill>
                  <a:srgbClr val="506975"/>
                </a:solidFill>
              </a:defRPr>
            </a:defPPr>
            <a:lvl1pPr>
              <a:defRPr sz="1275" b="0">
                <a:solidFill>
                  <a:srgbClr val="506975"/>
                </a:solidFill>
              </a:defRPr>
            </a:lvl1pPr>
            <a:lvl2pPr>
              <a:defRPr sz="1275" b="0">
                <a:solidFill>
                  <a:srgbClr val="506975"/>
                </a:solidFill>
              </a:defRPr>
            </a:lvl2pPr>
            <a:lvl3pPr>
              <a:defRPr sz="1275" b="0">
                <a:solidFill>
                  <a:srgbClr val="506975"/>
                </a:solidFill>
              </a:defRPr>
            </a:lvl3pPr>
            <a:lvl4pPr>
              <a:defRPr sz="1275" b="0">
                <a:solidFill>
                  <a:srgbClr val="506975"/>
                </a:solidFill>
              </a:defRPr>
            </a:lvl4pPr>
            <a:lvl5pPr>
              <a:defRPr sz="1275" b="0">
                <a:solidFill>
                  <a:srgbClr val="506975"/>
                </a:solidFill>
              </a:defRPr>
            </a:lvl5pPr>
            <a:lvl6pPr>
              <a:defRPr sz="1275" b="0">
                <a:solidFill>
                  <a:srgbClr val="506975"/>
                </a:solidFill>
              </a:defRPr>
            </a:lvl6pPr>
            <a:lvl7pPr>
              <a:defRPr sz="1275" b="0">
                <a:solidFill>
                  <a:srgbClr val="506975"/>
                </a:solidFill>
              </a:defRPr>
            </a:lvl7pPr>
            <a:lvl8pPr>
              <a:defRPr sz="1275" b="0">
                <a:solidFill>
                  <a:srgbClr val="506975"/>
                </a:solidFill>
              </a:defRPr>
            </a:lvl8pPr>
            <a:lvl9pPr>
              <a:defRPr sz="1275" b="0">
                <a:solidFill>
                  <a:srgbClr val="506975"/>
                </a:solidFill>
              </a:defRPr>
            </a:lvl9pPr>
          </a:lstStyle>
          <a:p>
            <a:pPr>
              <a:defRPr sz="1275" b="0">
                <a:solidFill>
                  <a:srgbClr val="506975"/>
                </a:solidFill>
              </a:defRPr>
            </a:pPr>
            <a:r>
              <a:rPr sz="1275" b="0">
                <a:solidFill>
                  <a:srgbClr val="506975"/>
                </a:solidFill>
              </a:rPr>
              <a:t>Reference during breakout</a:t>
            </a:r>
          </a:p>
        </p:txBody>
      </p:sp>
      <p:sp>
        <p:nvSpPr>
          <p:cNvPr id="4" name="number">
            <a:extLst>
              <a:ext uri="{FF2B5EF4-FFF2-40B4-BE49-F238E27FC236}">
                <a16:creationId xmlns:a16="http://schemas.microsoft.com/office/drawing/2014/main" id="{125018CC-EC36-46F9-85D9-60EE22FE8922}"/>
              </a:ext>
            </a:extLst>
          </p:cNvPr>
          <p:cNvSpPr>
            <a:spLocks noGrp="1"/>
          </p:cNvSpPr>
          <p:nvPr/>
        </p:nvSpPr>
        <p:spPr>
          <a:xfrm>
            <a:off x="11049000" y="6334125"/>
            <a:ext cx="619125" cy="285750"/>
          </a:xfrm>
          <a:prstGeom prst="rect">
            <a:avLst/>
          </a:prstGeom>
          <a:noFill/>
          <a:ln w="0">
            <a:noFill/>
            <a:prstDash val="solid"/>
          </a:ln>
        </p:spPr>
        <p:txBody>
          <a:bodyPr/>
          <a:lstStyle>
            <a:defPPr>
              <a:defRPr sz="1275" b="0">
                <a:solidFill>
                  <a:srgbClr val="152C3A"/>
                </a:solidFill>
              </a:defRPr>
            </a:defPPr>
            <a:lvl1pPr>
              <a:defRPr sz="1275" b="0">
                <a:solidFill>
                  <a:srgbClr val="152C3A"/>
                </a:solidFill>
              </a:defRPr>
            </a:lvl1pPr>
            <a:lvl2pPr>
              <a:defRPr sz="1275" b="0">
                <a:solidFill>
                  <a:srgbClr val="152C3A"/>
                </a:solidFill>
              </a:defRPr>
            </a:lvl2pPr>
            <a:lvl3pPr>
              <a:defRPr sz="1275" b="0">
                <a:solidFill>
                  <a:srgbClr val="152C3A"/>
                </a:solidFill>
              </a:defRPr>
            </a:lvl3pPr>
            <a:lvl4pPr>
              <a:defRPr sz="1275" b="0">
                <a:solidFill>
                  <a:srgbClr val="152C3A"/>
                </a:solidFill>
              </a:defRPr>
            </a:lvl4pPr>
            <a:lvl5pPr>
              <a:defRPr sz="1275" b="0">
                <a:solidFill>
                  <a:srgbClr val="152C3A"/>
                </a:solidFill>
              </a:defRPr>
            </a:lvl5pPr>
            <a:lvl6pPr>
              <a:defRPr sz="1275" b="0">
                <a:solidFill>
                  <a:srgbClr val="152C3A"/>
                </a:solidFill>
              </a:defRPr>
            </a:lvl6pPr>
            <a:lvl7pPr>
              <a:defRPr sz="1275" b="0">
                <a:solidFill>
                  <a:srgbClr val="152C3A"/>
                </a:solidFill>
              </a:defRPr>
            </a:lvl7pPr>
            <a:lvl8pPr>
              <a:defRPr sz="1275" b="0">
                <a:solidFill>
                  <a:srgbClr val="152C3A"/>
                </a:solidFill>
              </a:defRPr>
            </a:lvl8pPr>
            <a:lvl9pPr>
              <a:defRPr sz="1275" b="0">
                <a:solidFill>
                  <a:srgbClr val="152C3A"/>
                </a:solidFill>
              </a:defRPr>
            </a:lvl9pPr>
          </a:lstStyle>
          <a:p>
            <a:pPr>
              <a:defRPr sz="1275" b="0">
                <a:solidFill>
                  <a:srgbClr val="152C3A"/>
                </a:solidFill>
              </a:defRPr>
            </a:pPr>
            <a:r>
              <a:rPr sz="1275" b="0">
                <a:solidFill>
                  <a:srgbClr val="152C3A"/>
                </a:solidFill>
              </a:rPr>
              <a:t>26</a:t>
            </a:r>
          </a:p>
        </p:txBody>
      </p:sp>
      <p:sp>
        <p:nvSpPr>
          <p:cNvPr id="5" name="body-0">
            <a:extLst>
              <a:ext uri="{FF2B5EF4-FFF2-40B4-BE49-F238E27FC236}">
                <a16:creationId xmlns:a16="http://schemas.microsoft.com/office/drawing/2014/main" id="{A362F646-44D8-48F0-B116-3BD69BFA6304}"/>
              </a:ext>
            </a:extLst>
          </p:cNvPr>
          <p:cNvSpPr>
            <a:spLocks noGrp="1"/>
          </p:cNvSpPr>
          <p:nvPr/>
        </p:nvSpPr>
        <p:spPr>
          <a:xfrm>
            <a:off x="619125" y="1571625"/>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Does a longer journey from home to campus reduce class attendance among undergraduate students?</a:t>
            </a:r>
          </a:p>
        </p:txBody>
      </p:sp>
      <p:sp>
        <p:nvSpPr>
          <p:cNvPr id="6" name="body-1">
            <a:extLst>
              <a:ext uri="{FF2B5EF4-FFF2-40B4-BE49-F238E27FC236}">
                <a16:creationId xmlns:a16="http://schemas.microsoft.com/office/drawing/2014/main" id="{DDAE361F-4376-4EE8-AF3A-85AA92014124}"/>
              </a:ext>
            </a:extLst>
          </p:cNvPr>
          <p:cNvSpPr>
            <a:spLocks noGrp="1"/>
          </p:cNvSpPr>
          <p:nvPr/>
        </p:nvSpPr>
        <p:spPr>
          <a:xfrm>
            <a:off x="619125" y="2590800"/>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X: typical home-to-campus travel time</a:t>
            </a:r>
          </a:p>
          <a:p>
            <a:pPr>
              <a:defRPr sz="2100" b="0">
                <a:solidFill>
                  <a:srgbClr val="152C3A"/>
                </a:solidFill>
              </a:defRPr>
            </a:pPr>
            <a:r>
              <a:rPr sz="2100" b="0">
                <a:solidFill>
                  <a:srgbClr val="152C3A"/>
                </a:solidFill>
              </a:rPr>
              <a:t>Y: later attendance score</a:t>
            </a:r>
          </a:p>
        </p:txBody>
      </p:sp>
      <p:sp>
        <p:nvSpPr>
          <p:cNvPr id="7" name="body-2">
            <a:extLst>
              <a:ext uri="{FF2B5EF4-FFF2-40B4-BE49-F238E27FC236}">
                <a16:creationId xmlns:a16="http://schemas.microsoft.com/office/drawing/2014/main" id="{A8351FFA-2579-4653-B71A-408690D7B405}"/>
              </a:ext>
            </a:extLst>
          </p:cNvPr>
          <p:cNvSpPr>
            <a:spLocks noGrp="1"/>
          </p:cNvSpPr>
          <p:nvPr/>
        </p:nvSpPr>
        <p:spPr>
          <a:xfrm>
            <a:off x="619125" y="3609975"/>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Possible ideas: financial resources, housing choice, paid work hours, travel fatigue.</a:t>
            </a:r>
          </a:p>
        </p:txBody>
      </p:sp>
      <p:sp>
        <p:nvSpPr>
          <p:cNvPr id="8" name="body-3">
            <a:extLst>
              <a:ext uri="{FF2B5EF4-FFF2-40B4-BE49-F238E27FC236}">
                <a16:creationId xmlns:a16="http://schemas.microsoft.com/office/drawing/2014/main" id="{5BC5CD9C-D1AE-492B-9950-61E7EC477C27}"/>
              </a:ext>
            </a:extLst>
          </p:cNvPr>
          <p:cNvSpPr>
            <a:spLocks noGrp="1"/>
          </p:cNvSpPr>
          <p:nvPr/>
        </p:nvSpPr>
        <p:spPr>
          <a:xfrm>
            <a:off x="619125" y="4629150"/>
            <a:ext cx="10906125" cy="933450"/>
          </a:xfrm>
          <a:prstGeom prst="rect">
            <a:avLst/>
          </a:prstGeom>
          <a:noFill/>
          <a:ln w="0">
            <a:noFill/>
            <a:prstDash val="solid"/>
          </a:ln>
        </p:spPr>
        <p:txBody>
          <a:bodyPr/>
          <a:lstStyle>
            <a:defPPr>
              <a:defRPr sz="2100" b="0">
                <a:solidFill>
                  <a:srgbClr val="152C3A"/>
                </a:solidFill>
              </a:defRPr>
            </a:defPPr>
            <a:lvl1pPr>
              <a:defRPr sz="2100" b="0">
                <a:solidFill>
                  <a:srgbClr val="152C3A"/>
                </a:solidFill>
              </a:defRPr>
            </a:lvl1pPr>
            <a:lvl2pPr>
              <a:defRPr sz="2100" b="0">
                <a:solidFill>
                  <a:srgbClr val="152C3A"/>
                </a:solidFill>
              </a:defRPr>
            </a:lvl2pPr>
            <a:lvl3pPr>
              <a:defRPr sz="2100" b="0">
                <a:solidFill>
                  <a:srgbClr val="152C3A"/>
                </a:solidFill>
              </a:defRPr>
            </a:lvl3pPr>
            <a:lvl4pPr>
              <a:defRPr sz="2100" b="0">
                <a:solidFill>
                  <a:srgbClr val="152C3A"/>
                </a:solidFill>
              </a:defRPr>
            </a:lvl4pPr>
            <a:lvl5pPr>
              <a:defRPr sz="2100" b="0">
                <a:solidFill>
                  <a:srgbClr val="152C3A"/>
                </a:solidFill>
              </a:defRPr>
            </a:lvl5pPr>
            <a:lvl6pPr>
              <a:defRPr sz="2100" b="0">
                <a:solidFill>
                  <a:srgbClr val="152C3A"/>
                </a:solidFill>
              </a:defRPr>
            </a:lvl6pPr>
            <a:lvl7pPr>
              <a:defRPr sz="2100" b="0">
                <a:solidFill>
                  <a:srgbClr val="152C3A"/>
                </a:solidFill>
              </a:defRPr>
            </a:lvl7pPr>
            <a:lvl8pPr>
              <a:defRPr sz="2100" b="0">
                <a:solidFill>
                  <a:srgbClr val="152C3A"/>
                </a:solidFill>
              </a:defRPr>
            </a:lvl8pPr>
            <a:lvl9pPr>
              <a:defRPr sz="2100" b="0">
                <a:solidFill>
                  <a:srgbClr val="152C3A"/>
                </a:solidFill>
              </a:defRPr>
            </a:lvl9pPr>
          </a:lstStyle>
          <a:p>
            <a:pPr>
              <a:defRPr sz="2100" b="0">
                <a:solidFill>
                  <a:srgbClr val="152C3A"/>
                </a:solidFill>
              </a:defRPr>
            </a:pPr>
            <a:r>
              <a:rPr sz="2100" b="0">
                <a:solidFill>
                  <a:srgbClr val="152C3A"/>
                </a:solidFill>
              </a:rPr>
              <a:t>Possible moderator: access to reliable transport.</a:t>
            </a:r>
          </a:p>
        </p:txBody>
      </p:sp>
    </p:spTree>
    <p:extLst>
      <p:ext uri="{BB962C8B-B14F-4D97-AF65-F5344CB8AC3E}">
        <p14:creationId xmlns:p14="http://schemas.microsoft.com/office/powerpoint/2010/main" val="2137409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74997BD-09C0-46A9-9F9A-B0BBB78EF91C}"/>
              </a:ext>
            </a:extLst>
          </p:cNvPr>
          <p:cNvSpPr>
            <a:spLocks noGrp="1"/>
          </p:cNvSpPr>
          <p:nvPr/>
        </p:nvSpPr>
        <p:spPr>
          <a:xfrm>
            <a:off x="571500" y="419100"/>
            <a:ext cx="11001375" cy="952500"/>
          </a:xfrm>
          <a:prstGeom prst="rect">
            <a:avLst/>
          </a:prstGeom>
          <a:noFill/>
          <a:ln w="0">
            <a:noFill/>
            <a:prstDash val="solid"/>
          </a:ln>
        </p:spPr>
        <p:txBody>
          <a:bodyPr/>
          <a:lstStyle>
            <a:defPPr>
              <a:defRPr sz="2925" b="1">
                <a:solidFill>
                  <a:srgbClr val="152C3A"/>
                </a:solidFill>
              </a:defRPr>
            </a:defPPr>
            <a:lvl1pPr>
              <a:defRPr sz="2925" b="1">
                <a:solidFill>
                  <a:srgbClr val="152C3A"/>
                </a:solidFill>
              </a:defRPr>
            </a:lvl1pPr>
            <a:lvl2pPr>
              <a:defRPr sz="2925" b="1">
                <a:solidFill>
                  <a:srgbClr val="152C3A"/>
                </a:solidFill>
              </a:defRPr>
            </a:lvl2pPr>
            <a:lvl3pPr>
              <a:defRPr sz="2925" b="1">
                <a:solidFill>
                  <a:srgbClr val="152C3A"/>
                </a:solidFill>
              </a:defRPr>
            </a:lvl3pPr>
            <a:lvl4pPr>
              <a:defRPr sz="2925" b="1">
                <a:solidFill>
                  <a:srgbClr val="152C3A"/>
                </a:solidFill>
              </a:defRPr>
            </a:lvl4pPr>
            <a:lvl5pPr>
              <a:defRPr sz="2925" b="1">
                <a:solidFill>
                  <a:srgbClr val="152C3A"/>
                </a:solidFill>
              </a:defRPr>
            </a:lvl5pPr>
            <a:lvl6pPr>
              <a:defRPr sz="2925" b="1">
                <a:solidFill>
                  <a:srgbClr val="152C3A"/>
                </a:solidFill>
              </a:defRPr>
            </a:lvl6pPr>
            <a:lvl7pPr>
              <a:defRPr sz="2925" b="1">
                <a:solidFill>
                  <a:srgbClr val="152C3A"/>
                </a:solidFill>
              </a:defRPr>
            </a:lvl7pPr>
            <a:lvl8pPr>
              <a:defRPr sz="2925" b="1">
                <a:solidFill>
                  <a:srgbClr val="152C3A"/>
                </a:solidFill>
              </a:defRPr>
            </a:lvl8pPr>
            <a:lvl9pPr>
              <a:defRPr sz="2925" b="1">
                <a:solidFill>
                  <a:srgbClr val="152C3A"/>
                </a:solidFill>
              </a:defRPr>
            </a:lvl9pPr>
          </a:lstStyle>
          <a:p>
            <a:pPr>
              <a:defRPr sz="2925" b="1">
                <a:solidFill>
                  <a:srgbClr val="152C3A"/>
                </a:solidFill>
              </a:defRPr>
            </a:pPr>
            <a:r>
              <a:rPr sz="2925" b="1">
                <a:solidFill>
                  <a:srgbClr val="152C3A"/>
                </a:solidFill>
              </a:rPr>
              <a:t>Breakout task · 20 minutes</a:t>
            </a:r>
          </a:p>
        </p:txBody>
      </p:sp>
      <p:sp>
        <p:nvSpPr>
          <p:cNvPr id="3" name="timing">
            <a:extLst>
              <a:ext uri="{FF2B5EF4-FFF2-40B4-BE49-F238E27FC236}">
                <a16:creationId xmlns:a16="http://schemas.microsoft.com/office/drawing/2014/main" id="{3DC4C505-B6CD-4F7D-8363-C90A6D29F1C7}"/>
              </a:ext>
            </a:extLst>
          </p:cNvPr>
          <p:cNvSpPr>
            <a:spLocks noGrp="1"/>
          </p:cNvSpPr>
          <p:nvPr/>
        </p:nvSpPr>
        <p:spPr>
          <a:xfrm>
            <a:off x="571500" y="6334125"/>
            <a:ext cx="9715500" cy="285750"/>
          </a:xfrm>
          <a:prstGeom prst="rect">
            <a:avLst/>
          </a:prstGeom>
          <a:noFill/>
          <a:ln w="0">
            <a:noFill/>
            <a:prstDash val="solid"/>
          </a:ln>
        </p:spPr>
        <p:txBody>
          <a:bodyPr/>
          <a:lstStyle>
            <a:defPPr>
              <a:defRPr sz="1275" b="0">
                <a:solidFill>
                  <a:srgbClr val="506975"/>
                </a:solidFill>
              </a:defRPr>
            </a:defPPr>
            <a:lvl1pPr>
              <a:defRPr sz="1275" b="0">
                <a:solidFill>
                  <a:srgbClr val="506975"/>
                </a:solidFill>
              </a:defRPr>
            </a:lvl1pPr>
            <a:lvl2pPr>
              <a:defRPr sz="1275" b="0">
                <a:solidFill>
                  <a:srgbClr val="506975"/>
                </a:solidFill>
              </a:defRPr>
            </a:lvl2pPr>
            <a:lvl3pPr>
              <a:defRPr sz="1275" b="0">
                <a:solidFill>
                  <a:srgbClr val="506975"/>
                </a:solidFill>
              </a:defRPr>
            </a:lvl3pPr>
            <a:lvl4pPr>
              <a:defRPr sz="1275" b="0">
                <a:solidFill>
                  <a:srgbClr val="506975"/>
                </a:solidFill>
              </a:defRPr>
            </a:lvl4pPr>
            <a:lvl5pPr>
              <a:defRPr sz="1275" b="0">
                <a:solidFill>
                  <a:srgbClr val="506975"/>
                </a:solidFill>
              </a:defRPr>
            </a:lvl5pPr>
            <a:lvl6pPr>
              <a:defRPr sz="1275" b="0">
                <a:solidFill>
                  <a:srgbClr val="506975"/>
                </a:solidFill>
              </a:defRPr>
            </a:lvl6pPr>
            <a:lvl7pPr>
              <a:defRPr sz="1275" b="0">
                <a:solidFill>
                  <a:srgbClr val="506975"/>
                </a:solidFill>
              </a:defRPr>
            </a:lvl7pPr>
            <a:lvl8pPr>
              <a:defRPr sz="1275" b="0">
                <a:solidFill>
                  <a:srgbClr val="506975"/>
                </a:solidFill>
              </a:defRPr>
            </a:lvl8pPr>
            <a:lvl9pPr>
              <a:defRPr sz="1275" b="0">
                <a:solidFill>
                  <a:srgbClr val="506975"/>
                </a:solidFill>
              </a:defRPr>
            </a:lvl9pPr>
          </a:lstStyle>
          <a:p>
            <a:pPr>
              <a:defRPr sz="1275" b="0">
                <a:solidFill>
                  <a:srgbClr val="506975"/>
                </a:solidFill>
              </a:defRPr>
            </a:pPr>
            <a:r>
              <a:rPr sz="1275" b="0">
                <a:solidFill>
                  <a:srgbClr val="506975"/>
                </a:solidFill>
              </a:rPr>
              <a:t>48–68 min</a:t>
            </a:r>
          </a:p>
        </p:txBody>
      </p:sp>
      <p:sp>
        <p:nvSpPr>
          <p:cNvPr id="4" name="number">
            <a:extLst>
              <a:ext uri="{FF2B5EF4-FFF2-40B4-BE49-F238E27FC236}">
                <a16:creationId xmlns:a16="http://schemas.microsoft.com/office/drawing/2014/main" id="{05864545-DCB5-4FF5-B0F3-A0D4CE79421B}"/>
              </a:ext>
            </a:extLst>
          </p:cNvPr>
          <p:cNvSpPr>
            <a:spLocks noGrp="1"/>
          </p:cNvSpPr>
          <p:nvPr/>
        </p:nvSpPr>
        <p:spPr>
          <a:xfrm>
            <a:off x="11049000" y="6334125"/>
            <a:ext cx="619125" cy="285750"/>
          </a:xfrm>
          <a:prstGeom prst="rect">
            <a:avLst/>
          </a:prstGeom>
          <a:noFill/>
          <a:ln w="0">
            <a:noFill/>
            <a:prstDash val="solid"/>
          </a:ln>
        </p:spPr>
        <p:txBody>
          <a:bodyPr/>
          <a:lstStyle>
            <a:defPPr>
              <a:defRPr sz="1275" b="0">
                <a:solidFill>
                  <a:srgbClr val="152C3A"/>
                </a:solidFill>
              </a:defRPr>
            </a:defPPr>
            <a:lvl1pPr>
              <a:defRPr sz="1275" b="0">
                <a:solidFill>
                  <a:srgbClr val="152C3A"/>
                </a:solidFill>
              </a:defRPr>
            </a:lvl1pPr>
            <a:lvl2pPr>
              <a:defRPr sz="1275" b="0">
                <a:solidFill>
                  <a:srgbClr val="152C3A"/>
                </a:solidFill>
              </a:defRPr>
            </a:lvl2pPr>
            <a:lvl3pPr>
              <a:defRPr sz="1275" b="0">
                <a:solidFill>
                  <a:srgbClr val="152C3A"/>
                </a:solidFill>
              </a:defRPr>
            </a:lvl3pPr>
            <a:lvl4pPr>
              <a:defRPr sz="1275" b="0">
                <a:solidFill>
                  <a:srgbClr val="152C3A"/>
                </a:solidFill>
              </a:defRPr>
            </a:lvl4pPr>
            <a:lvl5pPr>
              <a:defRPr sz="1275" b="0">
                <a:solidFill>
                  <a:srgbClr val="152C3A"/>
                </a:solidFill>
              </a:defRPr>
            </a:lvl5pPr>
            <a:lvl6pPr>
              <a:defRPr sz="1275" b="0">
                <a:solidFill>
                  <a:srgbClr val="152C3A"/>
                </a:solidFill>
              </a:defRPr>
            </a:lvl6pPr>
            <a:lvl7pPr>
              <a:defRPr sz="1275" b="0">
                <a:solidFill>
                  <a:srgbClr val="152C3A"/>
                </a:solidFill>
              </a:defRPr>
            </a:lvl7pPr>
            <a:lvl8pPr>
              <a:defRPr sz="1275" b="0">
                <a:solidFill>
                  <a:srgbClr val="152C3A"/>
                </a:solidFill>
              </a:defRPr>
            </a:lvl8pPr>
            <a:lvl9pPr>
              <a:defRPr sz="1275" b="0">
                <a:solidFill>
                  <a:srgbClr val="152C3A"/>
                </a:solidFill>
              </a:defRPr>
            </a:lvl9pPr>
          </a:lstStyle>
          <a:p>
            <a:pPr>
              <a:defRPr sz="1275" b="0">
                <a:solidFill>
                  <a:srgbClr val="152C3A"/>
                </a:solidFill>
              </a:defRPr>
            </a:pPr>
            <a:r>
              <a:rPr sz="1275" b="0">
                <a:solidFill>
                  <a:srgbClr val="152C3A"/>
                </a:solidFill>
              </a:rPr>
              <a:t>27</a:t>
            </a:r>
          </a:p>
        </p:txBody>
      </p:sp>
      <p:sp>
        <p:nvSpPr>
          <p:cNvPr id="5" name="body-0">
            <a:extLst>
              <a:ext uri="{FF2B5EF4-FFF2-40B4-BE49-F238E27FC236}">
                <a16:creationId xmlns:a16="http://schemas.microsoft.com/office/drawing/2014/main" id="{ADECC683-BB1C-45C3-97E6-AFAD11317B85}"/>
              </a:ext>
            </a:extLst>
          </p:cNvPr>
          <p:cNvSpPr>
            <a:spLocks noGrp="1"/>
          </p:cNvSpPr>
          <p:nvPr/>
        </p:nvSpPr>
        <p:spPr>
          <a:xfrm>
            <a:off x="619125" y="1571625"/>
            <a:ext cx="10906125" cy="752475"/>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dirty="0">
                <a:solidFill>
                  <a:srgbClr val="152C3A"/>
                </a:solidFill>
              </a:rPr>
              <a:t>0–4   Define X, Y, unit, timing, H₀ and Hₐ.</a:t>
            </a:r>
          </a:p>
        </p:txBody>
      </p:sp>
      <p:sp>
        <p:nvSpPr>
          <p:cNvPr id="6" name="body-1">
            <a:extLst>
              <a:ext uri="{FF2B5EF4-FFF2-40B4-BE49-F238E27FC236}">
                <a16:creationId xmlns:a16="http://schemas.microsoft.com/office/drawing/2014/main" id="{A4414D8F-F5BF-4819-AEC4-C7BD1359865F}"/>
              </a:ext>
            </a:extLst>
          </p:cNvPr>
          <p:cNvSpPr>
            <a:spLocks noGrp="1"/>
          </p:cNvSpPr>
          <p:nvPr/>
        </p:nvSpPr>
        <p:spPr>
          <a:xfrm>
            <a:off x="619125" y="2409825"/>
            <a:ext cx="10906125" cy="752475"/>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dirty="0">
                <a:solidFill>
                  <a:srgbClr val="152C3A"/>
                </a:solidFill>
              </a:rPr>
              <a:t>4–10   Build a DAG with about 5–7 meaningful nodes. Explain </a:t>
            </a:r>
            <a:r>
              <a:rPr lang="en-US" sz="2250" b="0" dirty="0" err="1">
                <a:solidFill>
                  <a:srgbClr val="152C3A"/>
                </a:solidFill>
              </a:rPr>
              <a:t>atleast</a:t>
            </a:r>
            <a:r>
              <a:rPr lang="en-US" sz="2250" b="0" dirty="0">
                <a:solidFill>
                  <a:srgbClr val="152C3A"/>
                </a:solidFill>
              </a:rPr>
              <a:t> </a:t>
            </a:r>
            <a:r>
              <a:rPr sz="2250" b="0" dirty="0">
                <a:solidFill>
                  <a:srgbClr val="152C3A"/>
                </a:solidFill>
              </a:rPr>
              <a:t>three arrows.</a:t>
            </a:r>
          </a:p>
        </p:txBody>
      </p:sp>
      <p:sp>
        <p:nvSpPr>
          <p:cNvPr id="7" name="body-2">
            <a:extLst>
              <a:ext uri="{FF2B5EF4-FFF2-40B4-BE49-F238E27FC236}">
                <a16:creationId xmlns:a16="http://schemas.microsoft.com/office/drawing/2014/main" id="{7074247A-1790-4FB3-8481-5E38705808D6}"/>
              </a:ext>
            </a:extLst>
          </p:cNvPr>
          <p:cNvSpPr>
            <a:spLocks noGrp="1"/>
          </p:cNvSpPr>
          <p:nvPr/>
        </p:nvSpPr>
        <p:spPr>
          <a:xfrm>
            <a:off x="619125" y="3248025"/>
            <a:ext cx="10906125" cy="752475"/>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10–15   Inspect total-effect adjustment sets. Mark one plausible unmeasured cause if relevant.</a:t>
            </a:r>
          </a:p>
        </p:txBody>
      </p:sp>
      <p:sp>
        <p:nvSpPr>
          <p:cNvPr id="8" name="body-3">
            <a:extLst>
              <a:ext uri="{FF2B5EF4-FFF2-40B4-BE49-F238E27FC236}">
                <a16:creationId xmlns:a16="http://schemas.microsoft.com/office/drawing/2014/main" id="{19FDF749-B423-407B-B49D-831467025E42}"/>
              </a:ext>
            </a:extLst>
          </p:cNvPr>
          <p:cNvSpPr>
            <a:spLocks noGrp="1"/>
          </p:cNvSpPr>
          <p:nvPr/>
        </p:nvSpPr>
        <p:spPr>
          <a:xfrm>
            <a:off x="619125" y="4086225"/>
            <a:ext cx="10906125" cy="752475"/>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15–18   Suggest a moderator and review the diagram.</a:t>
            </a:r>
          </a:p>
        </p:txBody>
      </p:sp>
      <p:sp>
        <p:nvSpPr>
          <p:cNvPr id="9" name="body-4">
            <a:extLst>
              <a:ext uri="{FF2B5EF4-FFF2-40B4-BE49-F238E27FC236}">
                <a16:creationId xmlns:a16="http://schemas.microsoft.com/office/drawing/2014/main" id="{A2B7D399-DEF4-46BC-8DB6-3BDC3666B453}"/>
              </a:ext>
            </a:extLst>
          </p:cNvPr>
          <p:cNvSpPr>
            <a:spLocks noGrp="1"/>
          </p:cNvSpPr>
          <p:nvPr/>
        </p:nvSpPr>
        <p:spPr>
          <a:xfrm>
            <a:off x="619125" y="4924425"/>
            <a:ext cx="10906125" cy="752475"/>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18–20   Save the image and code. Prepare a one-minute explanation.</a:t>
            </a:r>
          </a:p>
        </p:txBody>
      </p:sp>
    </p:spTree>
    <p:extLst>
      <p:ext uri="{BB962C8B-B14F-4D97-AF65-F5344CB8AC3E}">
        <p14:creationId xmlns:p14="http://schemas.microsoft.com/office/powerpoint/2010/main" val="870637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EBE2D6D-2BE6-4F80-BBEA-21C9093C1434}"/>
              </a:ext>
            </a:extLst>
          </p:cNvPr>
          <p:cNvSpPr>
            <a:spLocks noGrp="1"/>
          </p:cNvSpPr>
          <p:nvPr/>
        </p:nvSpPr>
        <p:spPr>
          <a:xfrm>
            <a:off x="571500" y="419100"/>
            <a:ext cx="11001375" cy="952500"/>
          </a:xfrm>
          <a:prstGeom prst="rect">
            <a:avLst/>
          </a:prstGeom>
          <a:noFill/>
          <a:ln w="0">
            <a:noFill/>
            <a:prstDash val="solid"/>
          </a:ln>
        </p:spPr>
        <p:txBody>
          <a:bodyPr/>
          <a:lstStyle>
            <a:defPPr>
              <a:defRPr sz="2925" b="1">
                <a:solidFill>
                  <a:srgbClr val="152C3A"/>
                </a:solidFill>
              </a:defRPr>
            </a:defPPr>
            <a:lvl1pPr>
              <a:defRPr sz="2925" b="1">
                <a:solidFill>
                  <a:srgbClr val="152C3A"/>
                </a:solidFill>
              </a:defRPr>
            </a:lvl1pPr>
            <a:lvl2pPr>
              <a:defRPr sz="2925" b="1">
                <a:solidFill>
                  <a:srgbClr val="152C3A"/>
                </a:solidFill>
              </a:defRPr>
            </a:lvl2pPr>
            <a:lvl3pPr>
              <a:defRPr sz="2925" b="1">
                <a:solidFill>
                  <a:srgbClr val="152C3A"/>
                </a:solidFill>
              </a:defRPr>
            </a:lvl3pPr>
            <a:lvl4pPr>
              <a:defRPr sz="2925" b="1">
                <a:solidFill>
                  <a:srgbClr val="152C3A"/>
                </a:solidFill>
              </a:defRPr>
            </a:lvl4pPr>
            <a:lvl5pPr>
              <a:defRPr sz="2925" b="1">
                <a:solidFill>
                  <a:srgbClr val="152C3A"/>
                </a:solidFill>
              </a:defRPr>
            </a:lvl5pPr>
            <a:lvl6pPr>
              <a:defRPr sz="2925" b="1">
                <a:solidFill>
                  <a:srgbClr val="152C3A"/>
                </a:solidFill>
              </a:defRPr>
            </a:lvl6pPr>
            <a:lvl7pPr>
              <a:defRPr sz="2925" b="1">
                <a:solidFill>
                  <a:srgbClr val="152C3A"/>
                </a:solidFill>
              </a:defRPr>
            </a:lvl7pPr>
            <a:lvl8pPr>
              <a:defRPr sz="2925" b="1">
                <a:solidFill>
                  <a:srgbClr val="152C3A"/>
                </a:solidFill>
              </a:defRPr>
            </a:lvl8pPr>
            <a:lvl9pPr>
              <a:defRPr sz="2925" b="1">
                <a:solidFill>
                  <a:srgbClr val="152C3A"/>
                </a:solidFill>
              </a:defRPr>
            </a:lvl9pPr>
          </a:lstStyle>
          <a:p>
            <a:pPr>
              <a:defRPr sz="2925" b="1">
                <a:solidFill>
                  <a:srgbClr val="152C3A"/>
                </a:solidFill>
              </a:defRPr>
            </a:pPr>
            <a:r>
              <a:rPr sz="2925" b="1">
                <a:solidFill>
                  <a:srgbClr val="152C3A"/>
                </a:solidFill>
              </a:rPr>
              <a:t>Five one-minute reports</a:t>
            </a:r>
          </a:p>
        </p:txBody>
      </p:sp>
      <p:sp>
        <p:nvSpPr>
          <p:cNvPr id="3" name="timing">
            <a:extLst>
              <a:ext uri="{FF2B5EF4-FFF2-40B4-BE49-F238E27FC236}">
                <a16:creationId xmlns:a16="http://schemas.microsoft.com/office/drawing/2014/main" id="{CA816EF2-5403-4EFE-B6B8-FC060CED3CF0}"/>
              </a:ext>
            </a:extLst>
          </p:cNvPr>
          <p:cNvSpPr>
            <a:spLocks noGrp="1"/>
          </p:cNvSpPr>
          <p:nvPr/>
        </p:nvSpPr>
        <p:spPr>
          <a:xfrm>
            <a:off x="571500" y="6334125"/>
            <a:ext cx="9715500" cy="285750"/>
          </a:xfrm>
          <a:prstGeom prst="rect">
            <a:avLst/>
          </a:prstGeom>
          <a:noFill/>
          <a:ln w="0">
            <a:noFill/>
            <a:prstDash val="solid"/>
          </a:ln>
        </p:spPr>
        <p:txBody>
          <a:bodyPr/>
          <a:lstStyle>
            <a:defPPr>
              <a:defRPr sz="1275" b="0">
                <a:solidFill>
                  <a:srgbClr val="506975"/>
                </a:solidFill>
              </a:defRPr>
            </a:defPPr>
            <a:lvl1pPr>
              <a:defRPr sz="1275" b="0">
                <a:solidFill>
                  <a:srgbClr val="506975"/>
                </a:solidFill>
              </a:defRPr>
            </a:lvl1pPr>
            <a:lvl2pPr>
              <a:defRPr sz="1275" b="0">
                <a:solidFill>
                  <a:srgbClr val="506975"/>
                </a:solidFill>
              </a:defRPr>
            </a:lvl2pPr>
            <a:lvl3pPr>
              <a:defRPr sz="1275" b="0">
                <a:solidFill>
                  <a:srgbClr val="506975"/>
                </a:solidFill>
              </a:defRPr>
            </a:lvl3pPr>
            <a:lvl4pPr>
              <a:defRPr sz="1275" b="0">
                <a:solidFill>
                  <a:srgbClr val="506975"/>
                </a:solidFill>
              </a:defRPr>
            </a:lvl4pPr>
            <a:lvl5pPr>
              <a:defRPr sz="1275" b="0">
                <a:solidFill>
                  <a:srgbClr val="506975"/>
                </a:solidFill>
              </a:defRPr>
            </a:lvl5pPr>
            <a:lvl6pPr>
              <a:defRPr sz="1275" b="0">
                <a:solidFill>
                  <a:srgbClr val="506975"/>
                </a:solidFill>
              </a:defRPr>
            </a:lvl6pPr>
            <a:lvl7pPr>
              <a:defRPr sz="1275" b="0">
                <a:solidFill>
                  <a:srgbClr val="506975"/>
                </a:solidFill>
              </a:defRPr>
            </a:lvl7pPr>
            <a:lvl8pPr>
              <a:defRPr sz="1275" b="0">
                <a:solidFill>
                  <a:srgbClr val="506975"/>
                </a:solidFill>
              </a:defRPr>
            </a:lvl8pPr>
            <a:lvl9pPr>
              <a:defRPr sz="1275" b="0">
                <a:solidFill>
                  <a:srgbClr val="506975"/>
                </a:solidFill>
              </a:defRPr>
            </a:lvl9pPr>
          </a:lstStyle>
          <a:p>
            <a:pPr>
              <a:defRPr sz="1275" b="0">
                <a:solidFill>
                  <a:srgbClr val="506975"/>
                </a:solidFill>
              </a:defRPr>
            </a:pPr>
            <a:r>
              <a:rPr sz="1275" b="0">
                <a:solidFill>
                  <a:srgbClr val="506975"/>
                </a:solidFill>
              </a:rPr>
              <a:t>68–73 min</a:t>
            </a:r>
          </a:p>
        </p:txBody>
      </p:sp>
      <p:sp>
        <p:nvSpPr>
          <p:cNvPr id="4" name="number">
            <a:extLst>
              <a:ext uri="{FF2B5EF4-FFF2-40B4-BE49-F238E27FC236}">
                <a16:creationId xmlns:a16="http://schemas.microsoft.com/office/drawing/2014/main" id="{9BE35E4F-C2B6-4EED-BF49-14838E14684E}"/>
              </a:ext>
            </a:extLst>
          </p:cNvPr>
          <p:cNvSpPr>
            <a:spLocks noGrp="1"/>
          </p:cNvSpPr>
          <p:nvPr/>
        </p:nvSpPr>
        <p:spPr>
          <a:xfrm>
            <a:off x="11049000" y="6334125"/>
            <a:ext cx="619125" cy="285750"/>
          </a:xfrm>
          <a:prstGeom prst="rect">
            <a:avLst/>
          </a:prstGeom>
          <a:noFill/>
          <a:ln w="0">
            <a:noFill/>
            <a:prstDash val="solid"/>
          </a:ln>
        </p:spPr>
        <p:txBody>
          <a:bodyPr/>
          <a:lstStyle>
            <a:defPPr>
              <a:defRPr sz="1275" b="0">
                <a:solidFill>
                  <a:srgbClr val="152C3A"/>
                </a:solidFill>
              </a:defRPr>
            </a:defPPr>
            <a:lvl1pPr>
              <a:defRPr sz="1275" b="0">
                <a:solidFill>
                  <a:srgbClr val="152C3A"/>
                </a:solidFill>
              </a:defRPr>
            </a:lvl1pPr>
            <a:lvl2pPr>
              <a:defRPr sz="1275" b="0">
                <a:solidFill>
                  <a:srgbClr val="152C3A"/>
                </a:solidFill>
              </a:defRPr>
            </a:lvl2pPr>
            <a:lvl3pPr>
              <a:defRPr sz="1275" b="0">
                <a:solidFill>
                  <a:srgbClr val="152C3A"/>
                </a:solidFill>
              </a:defRPr>
            </a:lvl3pPr>
            <a:lvl4pPr>
              <a:defRPr sz="1275" b="0">
                <a:solidFill>
                  <a:srgbClr val="152C3A"/>
                </a:solidFill>
              </a:defRPr>
            </a:lvl4pPr>
            <a:lvl5pPr>
              <a:defRPr sz="1275" b="0">
                <a:solidFill>
                  <a:srgbClr val="152C3A"/>
                </a:solidFill>
              </a:defRPr>
            </a:lvl5pPr>
            <a:lvl6pPr>
              <a:defRPr sz="1275" b="0">
                <a:solidFill>
                  <a:srgbClr val="152C3A"/>
                </a:solidFill>
              </a:defRPr>
            </a:lvl6pPr>
            <a:lvl7pPr>
              <a:defRPr sz="1275" b="0">
                <a:solidFill>
                  <a:srgbClr val="152C3A"/>
                </a:solidFill>
              </a:defRPr>
            </a:lvl7pPr>
            <a:lvl8pPr>
              <a:defRPr sz="1275" b="0">
                <a:solidFill>
                  <a:srgbClr val="152C3A"/>
                </a:solidFill>
              </a:defRPr>
            </a:lvl8pPr>
            <a:lvl9pPr>
              <a:defRPr sz="1275" b="0">
                <a:solidFill>
                  <a:srgbClr val="152C3A"/>
                </a:solidFill>
              </a:defRPr>
            </a:lvl9pPr>
          </a:lstStyle>
          <a:p>
            <a:pPr>
              <a:defRPr sz="1275" b="0">
                <a:solidFill>
                  <a:srgbClr val="152C3A"/>
                </a:solidFill>
              </a:defRPr>
            </a:pPr>
            <a:r>
              <a:rPr sz="1275" b="0">
                <a:solidFill>
                  <a:srgbClr val="152C3A"/>
                </a:solidFill>
              </a:rPr>
              <a:t>28</a:t>
            </a:r>
          </a:p>
        </p:txBody>
      </p:sp>
      <p:sp>
        <p:nvSpPr>
          <p:cNvPr id="5" name="body-0">
            <a:extLst>
              <a:ext uri="{FF2B5EF4-FFF2-40B4-BE49-F238E27FC236}">
                <a16:creationId xmlns:a16="http://schemas.microsoft.com/office/drawing/2014/main" id="{32FDEA46-7F40-4B54-9E47-5043E58D9E9E}"/>
              </a:ext>
            </a:extLst>
          </p:cNvPr>
          <p:cNvSpPr>
            <a:spLocks noGrp="1"/>
          </p:cNvSpPr>
          <p:nvPr/>
        </p:nvSpPr>
        <p:spPr>
          <a:xfrm>
            <a:off x="619125" y="1571625"/>
            <a:ext cx="10906125" cy="933450"/>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Show your DAG.</a:t>
            </a:r>
          </a:p>
        </p:txBody>
      </p:sp>
      <p:sp>
        <p:nvSpPr>
          <p:cNvPr id="6" name="body-1">
            <a:extLst>
              <a:ext uri="{FF2B5EF4-FFF2-40B4-BE49-F238E27FC236}">
                <a16:creationId xmlns:a16="http://schemas.microsoft.com/office/drawing/2014/main" id="{7EC31AE5-C3A1-41BB-BDCD-3EE54198B910}"/>
              </a:ext>
            </a:extLst>
          </p:cNvPr>
          <p:cNvSpPr>
            <a:spLocks noGrp="1"/>
          </p:cNvSpPr>
          <p:nvPr/>
        </p:nvSpPr>
        <p:spPr>
          <a:xfrm>
            <a:off x="619125" y="2590800"/>
            <a:ext cx="10906125" cy="933450"/>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Name X, Y, and your preferred adjustment set.</a:t>
            </a:r>
          </a:p>
        </p:txBody>
      </p:sp>
      <p:sp>
        <p:nvSpPr>
          <p:cNvPr id="7" name="body-2">
            <a:extLst>
              <a:ext uri="{FF2B5EF4-FFF2-40B4-BE49-F238E27FC236}">
                <a16:creationId xmlns:a16="http://schemas.microsoft.com/office/drawing/2014/main" id="{9E7CA3CA-67A0-4C9D-845D-136F4C542A6B}"/>
              </a:ext>
            </a:extLst>
          </p:cNvPr>
          <p:cNvSpPr>
            <a:spLocks noGrp="1"/>
          </p:cNvSpPr>
          <p:nvPr/>
        </p:nvSpPr>
        <p:spPr>
          <a:xfrm>
            <a:off x="619125" y="3609975"/>
            <a:ext cx="10906125" cy="933450"/>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Explain one arrow or assumption your partner questioned.</a:t>
            </a:r>
          </a:p>
        </p:txBody>
      </p:sp>
      <p:sp>
        <p:nvSpPr>
          <p:cNvPr id="8" name="body-3">
            <a:extLst>
              <a:ext uri="{FF2B5EF4-FFF2-40B4-BE49-F238E27FC236}">
                <a16:creationId xmlns:a16="http://schemas.microsoft.com/office/drawing/2014/main" id="{5D3973B4-BCD9-479F-95A3-83837645B7B3}"/>
              </a:ext>
            </a:extLst>
          </p:cNvPr>
          <p:cNvSpPr>
            <a:spLocks noGrp="1"/>
          </p:cNvSpPr>
          <p:nvPr/>
        </p:nvSpPr>
        <p:spPr>
          <a:xfrm>
            <a:off x="619125" y="4629150"/>
            <a:ext cx="10906125" cy="933450"/>
          </a:xfrm>
          <a:prstGeom prst="rect">
            <a:avLst/>
          </a:prstGeom>
          <a:noFill/>
          <a:ln w="0">
            <a:noFill/>
            <a:prstDash val="solid"/>
          </a:ln>
        </p:spPr>
        <p:txBody>
          <a:bodyPr/>
          <a:lstStyle>
            <a:defPPr>
              <a:defRPr sz="2250" b="0">
                <a:solidFill>
                  <a:srgbClr val="152C3A"/>
                </a:solidFill>
              </a:defRPr>
            </a:defPPr>
            <a:lvl1pPr>
              <a:defRPr sz="2250" b="0">
                <a:solidFill>
                  <a:srgbClr val="152C3A"/>
                </a:solidFill>
              </a:defRPr>
            </a:lvl1pPr>
            <a:lvl2pPr>
              <a:defRPr sz="2250" b="0">
                <a:solidFill>
                  <a:srgbClr val="152C3A"/>
                </a:solidFill>
              </a:defRPr>
            </a:lvl2pPr>
            <a:lvl3pPr>
              <a:defRPr sz="2250" b="0">
                <a:solidFill>
                  <a:srgbClr val="152C3A"/>
                </a:solidFill>
              </a:defRPr>
            </a:lvl3pPr>
            <a:lvl4pPr>
              <a:defRPr sz="2250" b="0">
                <a:solidFill>
                  <a:srgbClr val="152C3A"/>
                </a:solidFill>
              </a:defRPr>
            </a:lvl4pPr>
            <a:lvl5pPr>
              <a:defRPr sz="2250" b="0">
                <a:solidFill>
                  <a:srgbClr val="152C3A"/>
                </a:solidFill>
              </a:defRPr>
            </a:lvl5pPr>
            <a:lvl6pPr>
              <a:defRPr sz="2250" b="0">
                <a:solidFill>
                  <a:srgbClr val="152C3A"/>
                </a:solidFill>
              </a:defRPr>
            </a:lvl6pPr>
            <a:lvl7pPr>
              <a:defRPr sz="2250" b="0">
                <a:solidFill>
                  <a:srgbClr val="152C3A"/>
                </a:solidFill>
              </a:defRPr>
            </a:lvl7pPr>
            <a:lvl8pPr>
              <a:defRPr sz="2250" b="0">
                <a:solidFill>
                  <a:srgbClr val="152C3A"/>
                </a:solidFill>
              </a:defRPr>
            </a:lvl8pPr>
            <a:lvl9pPr>
              <a:defRPr sz="2250" b="0">
                <a:solidFill>
                  <a:srgbClr val="152C3A"/>
                </a:solidFill>
              </a:defRPr>
            </a:lvl9pPr>
          </a:lstStyle>
          <a:p>
            <a:pPr>
              <a:defRPr sz="2250" b="0">
                <a:solidFill>
                  <a:srgbClr val="152C3A"/>
                </a:solidFill>
              </a:defRPr>
            </a:pPr>
            <a:r>
              <a:rPr sz="2250" b="0">
                <a:solidFill>
                  <a:srgbClr val="152C3A"/>
                </a:solidFill>
              </a:rPr>
              <a:t>Name your proposed moderator.</a:t>
            </a:r>
          </a:p>
        </p:txBody>
      </p:sp>
    </p:spTree>
    <p:extLst>
      <p:ext uri="{BB962C8B-B14F-4D97-AF65-F5344CB8AC3E}">
        <p14:creationId xmlns:p14="http://schemas.microsoft.com/office/powerpoint/2010/main" val="4556497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1056</Words>
  <Application>Microsoft Macintosh PowerPoint</Application>
  <PresentationFormat>Widescreen</PresentationFormat>
  <Paragraphs>71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Goel, Varun</dc:creator>
  <cp:lastModifiedBy>Goel, Varun</cp:lastModifiedBy>
  <cp:revision>1</cp:revision>
  <dcterms:created xsi:type="dcterms:W3CDTF">2026-10-29T18:37:55Z</dcterms:created>
  <dcterms:modified xsi:type="dcterms:W3CDTF">2026-10-29T18:38:46Z</dcterms:modified>
</cp:coreProperties>
</file>